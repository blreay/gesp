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2926080"/>
            <a:ext cx="12191695" cy="381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144000" cy="1097280"/>
          </a:xfrm>
          <a:prstGeom prst="rect">
            <a:avLst/>
          </a:prstGeom>
          <a:noFill/>
        </p:spPr>
        <p:txBody>
          <a:bodyPr wrap="square">
            <a:spAutoFit/>
          </a:bodyPr>
          <a:lstStyle/>
          <a:p>
            <a:pPr algn="ctr">
              <a:lnSpc>
                <a:spcPts val="6240"/>
              </a:lnSpc>
              <a:spcAft>
                <a:spcPts val="0"/>
              </a:spcAft>
              <a:defRPr sz="4800" b="1">
                <a:solidFill>
                  <a:srgbClr val="FFFFFF"/>
                </a:solidFill>
                <a:latin typeface="微软雅黑"/>
              </a:defRPr>
            </a:pPr>
            <a:r>
              <a:t>AI赋能环保实业</a:t>
            </a:r>
          </a:p>
        </p:txBody>
      </p:sp>
      <p:sp>
        <p:nvSpPr>
          <p:cNvPr id="4" name="TextBox 3"/>
          <p:cNvSpPr txBox="1"/>
          <p:nvPr/>
        </p:nvSpPr>
        <p:spPr>
          <a:xfrm>
            <a:off x="1828800" y="3200400"/>
            <a:ext cx="8229600" cy="731520"/>
          </a:xfrm>
          <a:prstGeom prst="rect">
            <a:avLst/>
          </a:prstGeom>
          <a:noFill/>
        </p:spPr>
        <p:txBody>
          <a:bodyPr wrap="square">
            <a:spAutoFit/>
          </a:bodyPr>
          <a:lstStyle/>
          <a:p>
            <a:pPr algn="ctr">
              <a:lnSpc>
                <a:spcPts val="2860"/>
              </a:lnSpc>
              <a:spcAft>
                <a:spcPts val="0"/>
              </a:spcAft>
              <a:defRPr sz="2200" b="0">
                <a:solidFill>
                  <a:srgbClr val="94A3B8"/>
                </a:solidFill>
                <a:latin typeface="微软雅黑"/>
              </a:defRPr>
            </a:pPr>
            <a:r>
              <a:t>从企业管理、精准营销到智能水处理装备的落地路径</a:t>
            </a:r>
          </a:p>
        </p:txBody>
      </p:sp>
      <p:sp>
        <p:nvSpPr>
          <p:cNvPr id="5" name="Rounded Rectangle 4"/>
          <p:cNvSpPr/>
          <p:nvPr/>
        </p:nvSpPr>
        <p:spPr>
          <a:xfrm>
            <a:off x="4389120" y="4389120"/>
            <a:ext cx="3383280" cy="411480"/>
          </a:xfrm>
          <a:prstGeom prst="roundRect">
            <a:avLst>
              <a:gd name="adj" fmla="val 4000"/>
            </a:avLst>
          </a:prstGeom>
          <a:solidFill>
            <a:srgbClr val="1E3A5F"/>
          </a:solidFill>
          <a:ln w="12700">
            <a:solidFill>
              <a:srgbClr val="385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0" y="4407408"/>
            <a:ext cx="3383280" cy="365760"/>
          </a:xfrm>
          <a:prstGeom prst="rect">
            <a:avLst/>
          </a:prstGeom>
          <a:noFill/>
        </p:spPr>
        <p:txBody>
          <a:bodyPr wrap="square">
            <a:spAutoFit/>
          </a:bodyPr>
          <a:lstStyle/>
          <a:p>
            <a:pPr algn="ctr">
              <a:lnSpc>
                <a:spcPts val="1690"/>
              </a:lnSpc>
              <a:spcAft>
                <a:spcPts val="0"/>
              </a:spcAft>
              <a:defRPr sz="1300" b="0">
                <a:solidFill>
                  <a:srgbClr val="94A3B8"/>
                </a:solidFill>
                <a:latin typeface="微软雅黑"/>
              </a:defRPr>
            </a:pPr>
            <a:r>
              <a:t>睿美达 × AI算法专家 · 交流提纲</a:t>
            </a:r>
          </a:p>
        </p:txBody>
      </p:sp>
      <p:sp>
        <p:nvSpPr>
          <p:cNvPr id="7" name="TextBox 6"/>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2743200" cy="274320"/>
          </a:xfrm>
          <a:prstGeom prst="rect">
            <a:avLst/>
          </a:prstGeom>
          <a:noFill/>
        </p:spPr>
        <p:txBody>
          <a:bodyPr wrap="square">
            <a:spAutoFit/>
          </a:bodyPr>
          <a:lstStyle/>
          <a:p>
            <a:pPr algn="l">
              <a:lnSpc>
                <a:spcPts val="1430"/>
              </a:lnSpc>
              <a:spcAft>
                <a:spcPts val="0"/>
              </a:spcAft>
              <a:defRPr sz="1100" b="1">
                <a:solidFill>
                  <a:srgbClr val="0EA5E9"/>
                </a:solidFill>
                <a:latin typeface="微软雅黑"/>
              </a:defRPr>
            </a:pPr>
            <a:r>
              <a:t>CORE OBJECTIVES</a:t>
            </a:r>
          </a:p>
        </p:txBody>
      </p:sp>
      <p:sp>
        <p:nvSpPr>
          <p:cNvPr id="3" name="TextBox 2"/>
          <p:cNvSpPr txBox="1"/>
          <p:nvPr/>
        </p:nvSpPr>
        <p:spPr>
          <a:xfrm>
            <a:off x="731520" y="685800"/>
            <a:ext cx="7315200" cy="548640"/>
          </a:xfrm>
          <a:prstGeom prst="rect">
            <a:avLst/>
          </a:prstGeom>
          <a:noFill/>
        </p:spPr>
        <p:txBody>
          <a:bodyPr wrap="square">
            <a:spAutoFit/>
          </a:bodyPr>
          <a:lstStyle/>
          <a:p>
            <a:pPr algn="l">
              <a:lnSpc>
                <a:spcPts val="4680"/>
              </a:lnSpc>
              <a:spcAft>
                <a:spcPts val="0"/>
              </a:spcAft>
              <a:defRPr sz="3600" b="1">
                <a:solidFill>
                  <a:srgbClr val="0F172A"/>
                </a:solidFill>
                <a:latin typeface="微软雅黑"/>
              </a:defRPr>
            </a:pPr>
            <a:r>
              <a:t>明天交流的核心目标</a:t>
            </a:r>
          </a:p>
        </p:txBody>
      </p:sp>
      <p:sp>
        <p:nvSpPr>
          <p:cNvPr id="4" name="TextBox 3"/>
          <p:cNvSpPr txBox="1"/>
          <p:nvPr/>
        </p:nvSpPr>
        <p:spPr>
          <a:xfrm>
            <a:off x="731520" y="1371600"/>
            <a:ext cx="10058400" cy="548640"/>
          </a:xfrm>
          <a:prstGeom prst="rect">
            <a:avLst/>
          </a:prstGeom>
          <a:noFill/>
        </p:spPr>
        <p:txBody>
          <a:bodyPr wrap="square">
            <a:spAutoFit/>
          </a:bodyPr>
          <a:lstStyle/>
          <a:p>
            <a:pPr algn="l">
              <a:lnSpc>
                <a:spcPts val="1950"/>
              </a:lnSpc>
              <a:spcAft>
                <a:spcPts val="0"/>
              </a:spcAft>
              <a:defRPr sz="1500" b="0">
                <a:solidFill>
                  <a:srgbClr val="475569"/>
                </a:solidFill>
                <a:latin typeface="微软雅黑"/>
              </a:defRPr>
            </a:pPr>
            <a:r>
              <a:t>不要只聊"AI能做什么"，要聊清楚"环保企业在哪些环节最值得AI化、先做什么、怎么落地、怎么变成产品卖点、怎么形成长期壁垒"。</a:t>
            </a:r>
          </a:p>
        </p:txBody>
      </p:sp>
      <p:sp>
        <p:nvSpPr>
          <p:cNvPr id="5" name="Rounded Rectangle 4"/>
          <p:cNvSpPr/>
          <p:nvPr/>
        </p:nvSpPr>
        <p:spPr>
          <a:xfrm>
            <a:off x="731520" y="2286000"/>
            <a:ext cx="2560320" cy="20116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286000"/>
            <a:ext cx="2560320" cy="508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14600"/>
            <a:ext cx="219456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听对方讲</a:t>
            </a:r>
          </a:p>
        </p:txBody>
      </p:sp>
      <p:sp>
        <p:nvSpPr>
          <p:cNvPr id="8" name="TextBox 7"/>
          <p:cNvSpPr txBox="1"/>
          <p:nvPr/>
        </p:nvSpPr>
        <p:spPr>
          <a:xfrm>
            <a:off x="914400" y="3063240"/>
            <a:ext cx="2194560" cy="914400"/>
          </a:xfrm>
          <a:prstGeom prst="rect">
            <a:avLst/>
          </a:prstGeom>
          <a:noFill/>
        </p:spPr>
        <p:txBody>
          <a:bodyPr wrap="square">
            <a:spAutoFit/>
          </a:bodyPr>
          <a:lstStyle/>
          <a:p>
            <a:pPr algn="l">
              <a:lnSpc>
                <a:spcPts val="1690"/>
              </a:lnSpc>
              <a:spcAft>
                <a:spcPts val="0"/>
              </a:spcAft>
              <a:defRPr sz="1300" b="0">
                <a:solidFill>
                  <a:srgbClr val="475569"/>
                </a:solidFill>
                <a:latin typeface="微软雅黑"/>
              </a:defRPr>
            </a:pPr>
            <a:r>
              <a:t>AI如何给环保企业赋能</a:t>
            </a:r>
            <a:br/>
            <a:r>
              <a:t>结合真实业务场景</a:t>
            </a:r>
          </a:p>
        </p:txBody>
      </p:sp>
      <p:sp>
        <p:nvSpPr>
          <p:cNvPr id="9" name="Rounded Rectangle 8"/>
          <p:cNvSpPr/>
          <p:nvPr/>
        </p:nvSpPr>
        <p:spPr>
          <a:xfrm>
            <a:off x="3520439" y="2286000"/>
            <a:ext cx="2560320" cy="20116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20439" y="2286000"/>
            <a:ext cx="256032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19" y="2514600"/>
            <a:ext cx="219456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让对方理解</a:t>
            </a:r>
          </a:p>
        </p:txBody>
      </p:sp>
      <p:sp>
        <p:nvSpPr>
          <p:cNvPr id="12" name="TextBox 11"/>
          <p:cNvSpPr txBox="1"/>
          <p:nvPr/>
        </p:nvSpPr>
        <p:spPr>
          <a:xfrm>
            <a:off x="3703319" y="3063240"/>
            <a:ext cx="2194560" cy="914400"/>
          </a:xfrm>
          <a:prstGeom prst="rect">
            <a:avLst/>
          </a:prstGeom>
          <a:noFill/>
        </p:spPr>
        <p:txBody>
          <a:bodyPr wrap="square">
            <a:spAutoFit/>
          </a:bodyPr>
          <a:lstStyle/>
          <a:p>
            <a:pPr algn="l">
              <a:lnSpc>
                <a:spcPts val="1690"/>
              </a:lnSpc>
              <a:spcAft>
                <a:spcPts val="0"/>
              </a:spcAft>
              <a:defRPr sz="1300" b="0">
                <a:solidFill>
                  <a:srgbClr val="475569"/>
                </a:solidFill>
                <a:latin typeface="微软雅黑"/>
              </a:defRPr>
            </a:pPr>
            <a:r>
              <a:t>睿美达的业务特点</a:t>
            </a:r>
            <a:br/>
            <a:r>
              <a:t>核心技术和应用场景</a:t>
            </a:r>
          </a:p>
        </p:txBody>
      </p:sp>
      <p:sp>
        <p:nvSpPr>
          <p:cNvPr id="13" name="Rounded Rectangle 12"/>
          <p:cNvSpPr/>
          <p:nvPr/>
        </p:nvSpPr>
        <p:spPr>
          <a:xfrm>
            <a:off x="6309359" y="2286000"/>
            <a:ext cx="2560320" cy="20116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59" y="2286000"/>
            <a:ext cx="2560320"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39" y="2514600"/>
            <a:ext cx="219456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共同判断</a:t>
            </a:r>
          </a:p>
        </p:txBody>
      </p:sp>
      <p:sp>
        <p:nvSpPr>
          <p:cNvPr id="16" name="TextBox 15"/>
          <p:cNvSpPr txBox="1"/>
          <p:nvPr/>
        </p:nvSpPr>
        <p:spPr>
          <a:xfrm>
            <a:off x="6492239" y="3063240"/>
            <a:ext cx="2194560" cy="914400"/>
          </a:xfrm>
          <a:prstGeom prst="rect">
            <a:avLst/>
          </a:prstGeom>
          <a:noFill/>
        </p:spPr>
        <p:txBody>
          <a:bodyPr wrap="square">
            <a:spAutoFit/>
          </a:bodyPr>
          <a:lstStyle/>
          <a:p>
            <a:pPr algn="l">
              <a:lnSpc>
                <a:spcPts val="1690"/>
              </a:lnSpc>
              <a:spcAft>
                <a:spcPts val="0"/>
              </a:spcAft>
              <a:defRPr sz="1300" b="0">
                <a:solidFill>
                  <a:srgbClr val="475569"/>
                </a:solidFill>
                <a:latin typeface="微软雅黑"/>
              </a:defRPr>
            </a:pPr>
            <a:r>
              <a:t>哪些AI方向</a:t>
            </a:r>
            <a:br/>
            <a:r>
              <a:t>最适合短期落地</a:t>
            </a:r>
          </a:p>
        </p:txBody>
      </p:sp>
      <p:sp>
        <p:nvSpPr>
          <p:cNvPr id="17" name="Rounded Rectangle 16"/>
          <p:cNvSpPr/>
          <p:nvPr/>
        </p:nvSpPr>
        <p:spPr>
          <a:xfrm>
            <a:off x="9098280" y="2286000"/>
            <a:ext cx="2560320" cy="20116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98280" y="2286000"/>
            <a:ext cx="256032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2514600"/>
            <a:ext cx="219456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探讨合作</a:t>
            </a:r>
          </a:p>
        </p:txBody>
      </p:sp>
      <p:sp>
        <p:nvSpPr>
          <p:cNvPr id="20" name="TextBox 19"/>
          <p:cNvSpPr txBox="1"/>
          <p:nvPr/>
        </p:nvSpPr>
        <p:spPr>
          <a:xfrm>
            <a:off x="9281160" y="3063240"/>
            <a:ext cx="2194560" cy="914400"/>
          </a:xfrm>
          <a:prstGeom prst="rect">
            <a:avLst/>
          </a:prstGeom>
          <a:noFill/>
        </p:spPr>
        <p:txBody>
          <a:bodyPr wrap="square">
            <a:spAutoFit/>
          </a:bodyPr>
          <a:lstStyle/>
          <a:p>
            <a:pPr algn="l">
              <a:lnSpc>
                <a:spcPts val="1690"/>
              </a:lnSpc>
              <a:spcAft>
                <a:spcPts val="0"/>
              </a:spcAft>
              <a:defRPr sz="1300" b="0">
                <a:solidFill>
                  <a:srgbClr val="475569"/>
                </a:solidFill>
                <a:latin typeface="微软雅黑"/>
              </a:defRPr>
            </a:pPr>
            <a:r>
              <a:t>双方如何分工</a:t>
            </a:r>
            <a:br/>
            <a:r>
              <a:t>共建产品</a:t>
            </a:r>
          </a:p>
        </p:txBody>
      </p:sp>
      <p:sp>
        <p:nvSpPr>
          <p:cNvPr id="21" name="Rounded Rectangle 20"/>
          <p:cNvSpPr/>
          <p:nvPr/>
        </p:nvSpPr>
        <p:spPr>
          <a:xfrm>
            <a:off x="731520" y="4754880"/>
            <a:ext cx="2011680" cy="32004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754880"/>
            <a:ext cx="2011680" cy="320040"/>
          </a:xfrm>
          <a:prstGeom prst="rect">
            <a:avLst/>
          </a:prstGeom>
          <a:noFill/>
        </p:spPr>
        <p:txBody>
          <a:bodyPr wrap="square">
            <a:spAutoFit/>
          </a:bodyPr>
          <a:lstStyle/>
          <a:p>
            <a:pPr algn="ctr">
              <a:lnSpc>
                <a:spcPts val="1430"/>
              </a:lnSpc>
              <a:spcAft>
                <a:spcPts val="0"/>
              </a:spcAft>
              <a:defRPr sz="1100" b="1">
                <a:solidFill>
                  <a:srgbClr val="FFFFFF"/>
                </a:solidFill>
                <a:latin typeface="微软雅黑"/>
              </a:defRPr>
            </a:pPr>
            <a:r>
              <a:t>优先落地方向</a:t>
            </a:r>
          </a:p>
        </p:txBody>
      </p:sp>
      <p:sp>
        <p:nvSpPr>
          <p:cNvPr id="23" name="Rounded Rectangle 22"/>
          <p:cNvSpPr/>
          <p:nvPr/>
        </p:nvSpPr>
        <p:spPr>
          <a:xfrm>
            <a:off x="3017520" y="4754880"/>
            <a:ext cx="2011680" cy="320040"/>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0" y="4754880"/>
            <a:ext cx="2011680" cy="320040"/>
          </a:xfrm>
          <a:prstGeom prst="rect">
            <a:avLst/>
          </a:prstGeom>
          <a:noFill/>
        </p:spPr>
        <p:txBody>
          <a:bodyPr wrap="square">
            <a:spAutoFit/>
          </a:bodyPr>
          <a:lstStyle/>
          <a:p>
            <a:pPr algn="ctr">
              <a:lnSpc>
                <a:spcPts val="1430"/>
              </a:lnSpc>
              <a:spcAft>
                <a:spcPts val="0"/>
              </a:spcAft>
              <a:defRPr sz="1100" b="1">
                <a:solidFill>
                  <a:srgbClr val="FFFFFF"/>
                </a:solidFill>
                <a:latin typeface="微软雅黑"/>
              </a:defRPr>
            </a:pPr>
            <a:r>
              <a:t>数据与技术基础</a:t>
            </a:r>
          </a:p>
        </p:txBody>
      </p:sp>
      <p:sp>
        <p:nvSpPr>
          <p:cNvPr id="25" name="Rounded Rectangle 24"/>
          <p:cNvSpPr/>
          <p:nvPr/>
        </p:nvSpPr>
        <p:spPr>
          <a:xfrm>
            <a:off x="5303520" y="4754880"/>
            <a:ext cx="2011680" cy="32004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0" y="4754880"/>
            <a:ext cx="2011680" cy="320040"/>
          </a:xfrm>
          <a:prstGeom prst="rect">
            <a:avLst/>
          </a:prstGeom>
          <a:noFill/>
        </p:spPr>
        <p:txBody>
          <a:bodyPr wrap="square">
            <a:spAutoFit/>
          </a:bodyPr>
          <a:lstStyle/>
          <a:p>
            <a:pPr algn="ctr">
              <a:lnSpc>
                <a:spcPts val="1430"/>
              </a:lnSpc>
              <a:spcAft>
                <a:spcPts val="0"/>
              </a:spcAft>
              <a:defRPr sz="1100" b="1">
                <a:solidFill>
                  <a:srgbClr val="FFFFFF"/>
                </a:solidFill>
                <a:latin typeface="微软雅黑"/>
              </a:defRPr>
            </a:pPr>
            <a:r>
              <a:t>短中长期路径</a:t>
            </a:r>
          </a:p>
        </p:txBody>
      </p:sp>
      <p:sp>
        <p:nvSpPr>
          <p:cNvPr id="27" name="Rounded Rectangle 26"/>
          <p:cNvSpPr/>
          <p:nvPr/>
        </p:nvSpPr>
        <p:spPr>
          <a:xfrm>
            <a:off x="7589520" y="4754880"/>
            <a:ext cx="2011680" cy="320040"/>
          </a:xfrm>
          <a:prstGeom prst="roundRect">
            <a:avLst>
              <a:gd name="adj" fmla="val 4000"/>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0" y="4754880"/>
            <a:ext cx="2011680" cy="320040"/>
          </a:xfrm>
          <a:prstGeom prst="rect">
            <a:avLst/>
          </a:prstGeom>
          <a:noFill/>
        </p:spPr>
        <p:txBody>
          <a:bodyPr wrap="square">
            <a:spAutoFit/>
          </a:bodyPr>
          <a:lstStyle/>
          <a:p>
            <a:pPr algn="ctr">
              <a:lnSpc>
                <a:spcPts val="1430"/>
              </a:lnSpc>
              <a:spcAft>
                <a:spcPts val="0"/>
              </a:spcAft>
              <a:defRPr sz="1100" b="1">
                <a:solidFill>
                  <a:srgbClr val="FFFFFF"/>
                </a:solidFill>
                <a:latin typeface="微软雅黑"/>
              </a:defRPr>
            </a:pPr>
            <a:r>
              <a:t>商业模式设计</a:t>
            </a:r>
          </a:p>
        </p:txBody>
      </p:sp>
      <p:sp>
        <p:nvSpPr>
          <p:cNvPr id="29" name="TextBox 28"/>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4572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建议开场表达</a:t>
            </a:r>
          </a:p>
        </p:txBody>
      </p:sp>
      <p:sp>
        <p:nvSpPr>
          <p:cNvPr id="3" name="Rounded Rectangle 2"/>
          <p:cNvSpPr/>
          <p:nvPr/>
        </p:nvSpPr>
        <p:spPr>
          <a:xfrm>
            <a:off x="731520" y="1188720"/>
            <a:ext cx="10698480" cy="3200400"/>
          </a:xfrm>
          <a:prstGeom prst="roundRect">
            <a:avLst>
              <a:gd name="adj" fmla="val 4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63500" cy="32004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371600"/>
            <a:ext cx="10149840" cy="2834640"/>
          </a:xfrm>
          <a:prstGeom prst="rect">
            <a:avLst/>
          </a:prstGeom>
          <a:noFill/>
        </p:spPr>
        <p:txBody>
          <a:bodyPr wrap="square">
            <a:spAutoFit/>
          </a:bodyPr>
          <a:lstStyle/>
          <a:p>
            <a:pPr algn="l">
              <a:lnSpc>
                <a:spcPts val="2240"/>
              </a:lnSpc>
              <a:spcAft>
                <a:spcPts val="0"/>
              </a:spcAft>
              <a:defRPr sz="1400" b="0">
                <a:solidFill>
                  <a:srgbClr val="1D4ED8"/>
                </a:solidFill>
                <a:latin typeface="微软雅黑"/>
              </a:defRPr>
            </a:pPr>
            <a:r>
              <a:t>我们公司主要做超微纳米曝气和臭氧催化氧化水处理装备，服务市政污水提标和工业高难度废水治理。现在行业里有几个痛点：一是能耗高，二是水质波动大，三是设备运行依赖人工经验，四是客户越来越关注长期运维成本和数据化管理。</a:t>
            </a:r>
            <a:br/>
            <a:br/>
            <a:r>
              <a:t>所以我们想请你从AI算法和数字化角度帮我们判断一下：AI能不能真正嵌入我们的设备和工艺系统里，形成智能调控、节能降耗、远程运维、工况诊断这些能力？</a:t>
            </a:r>
            <a:br/>
            <a:br/>
            <a:r>
              <a:t>我们希望不是做一个概念，而是能形成清晰路径：短期能做什么，中期能形成什么产品，长期能建立什么样的行业壁垒。</a:t>
            </a:r>
          </a:p>
        </p:txBody>
      </p:sp>
      <p:sp>
        <p:nvSpPr>
          <p:cNvPr id="6" name="TextBox 5"/>
          <p:cNvSpPr txBox="1"/>
          <p:nvPr/>
        </p:nvSpPr>
        <p:spPr>
          <a:xfrm>
            <a:off x="731520" y="4754880"/>
            <a:ext cx="2743200" cy="274320"/>
          </a:xfrm>
          <a:prstGeom prst="rect">
            <a:avLst/>
          </a:prstGeom>
          <a:noFill/>
        </p:spPr>
        <p:txBody>
          <a:bodyPr wrap="square">
            <a:spAutoFit/>
          </a:bodyPr>
          <a:lstStyle/>
          <a:p>
            <a:pPr algn="l">
              <a:lnSpc>
                <a:spcPts val="1690"/>
              </a:lnSpc>
              <a:spcAft>
                <a:spcPts val="0"/>
              </a:spcAft>
              <a:defRPr sz="1300" b="1">
                <a:solidFill>
                  <a:srgbClr val="64748B"/>
                </a:solidFill>
                <a:latin typeface="微软雅黑"/>
              </a:defRPr>
            </a:pPr>
            <a:r>
              <a:t>推荐交流标题</a:t>
            </a:r>
          </a:p>
        </p:txBody>
      </p:sp>
      <p:sp>
        <p:nvSpPr>
          <p:cNvPr id="7" name="Rounded Rectangle 6"/>
          <p:cNvSpPr/>
          <p:nvPr/>
        </p:nvSpPr>
        <p:spPr>
          <a:xfrm>
            <a:off x="731520" y="5120640"/>
            <a:ext cx="1463040" cy="32004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120640"/>
            <a:ext cx="1463040" cy="32004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方案一（正式）</a:t>
            </a:r>
          </a:p>
        </p:txBody>
      </p:sp>
      <p:sp>
        <p:nvSpPr>
          <p:cNvPr id="9" name="TextBox 8"/>
          <p:cNvSpPr txBox="1"/>
          <p:nvPr/>
        </p:nvSpPr>
        <p:spPr>
          <a:xfrm>
            <a:off x="2377440" y="5120640"/>
            <a:ext cx="8229600" cy="320040"/>
          </a:xfrm>
          <a:prstGeom prst="rect">
            <a:avLst/>
          </a:prstGeom>
          <a:noFill/>
        </p:spPr>
        <p:txBody>
          <a:bodyPr wrap="square">
            <a:spAutoFit/>
          </a:bodyPr>
          <a:lstStyle/>
          <a:p>
            <a:pPr algn="l">
              <a:lnSpc>
                <a:spcPts val="1560"/>
              </a:lnSpc>
              <a:spcAft>
                <a:spcPts val="0"/>
              </a:spcAft>
              <a:defRPr sz="1200" b="0">
                <a:solidFill>
                  <a:srgbClr val="475569"/>
                </a:solidFill>
                <a:latin typeface="微软雅黑"/>
              </a:defRPr>
            </a:pPr>
            <a:r>
              <a:t>环保实业公司 × AI算法专家跨界对话</a:t>
            </a:r>
          </a:p>
        </p:txBody>
      </p:sp>
      <p:sp>
        <p:nvSpPr>
          <p:cNvPr id="10" name="Rounded Rectangle 9"/>
          <p:cNvSpPr/>
          <p:nvPr/>
        </p:nvSpPr>
        <p:spPr>
          <a:xfrm>
            <a:off x="731520" y="5532120"/>
            <a:ext cx="1463040" cy="32004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532120"/>
            <a:ext cx="1463040" cy="32004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方案二（视频）</a:t>
            </a:r>
          </a:p>
        </p:txBody>
      </p:sp>
      <p:sp>
        <p:nvSpPr>
          <p:cNvPr id="12" name="TextBox 11"/>
          <p:cNvSpPr txBox="1"/>
          <p:nvPr/>
        </p:nvSpPr>
        <p:spPr>
          <a:xfrm>
            <a:off x="2377440" y="5532120"/>
            <a:ext cx="8229600" cy="320040"/>
          </a:xfrm>
          <a:prstGeom prst="rect">
            <a:avLst/>
          </a:prstGeom>
          <a:noFill/>
        </p:spPr>
        <p:txBody>
          <a:bodyPr wrap="square">
            <a:spAutoFit/>
          </a:bodyPr>
          <a:lstStyle/>
          <a:p>
            <a:pPr algn="l">
              <a:lnSpc>
                <a:spcPts val="1560"/>
              </a:lnSpc>
              <a:spcAft>
                <a:spcPts val="0"/>
              </a:spcAft>
              <a:defRPr sz="1200" b="0">
                <a:solidFill>
                  <a:srgbClr val="475569"/>
                </a:solidFill>
                <a:latin typeface="微软雅黑"/>
              </a:defRPr>
            </a:pPr>
            <a:r>
              <a:t>当环保装备遇上AI：传统污水处理如何实现智能调控？</a:t>
            </a:r>
          </a:p>
        </p:txBody>
      </p:sp>
      <p:sp>
        <p:nvSpPr>
          <p:cNvPr id="13" name="Rounded Rectangle 12"/>
          <p:cNvSpPr/>
          <p:nvPr/>
        </p:nvSpPr>
        <p:spPr>
          <a:xfrm>
            <a:off x="731520" y="5943600"/>
            <a:ext cx="1463040" cy="32004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943600"/>
            <a:ext cx="1463040" cy="32004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方案三（商业）</a:t>
            </a:r>
          </a:p>
        </p:txBody>
      </p:sp>
      <p:sp>
        <p:nvSpPr>
          <p:cNvPr id="15" name="TextBox 14"/>
          <p:cNvSpPr txBox="1"/>
          <p:nvPr/>
        </p:nvSpPr>
        <p:spPr>
          <a:xfrm>
            <a:off x="2377440" y="5943600"/>
            <a:ext cx="8229600" cy="320040"/>
          </a:xfrm>
          <a:prstGeom prst="rect">
            <a:avLst/>
          </a:prstGeom>
          <a:noFill/>
        </p:spPr>
        <p:txBody>
          <a:bodyPr wrap="square">
            <a:spAutoFit/>
          </a:bodyPr>
          <a:lstStyle/>
          <a:p>
            <a:pPr algn="l">
              <a:lnSpc>
                <a:spcPts val="1560"/>
              </a:lnSpc>
              <a:spcAft>
                <a:spcPts val="0"/>
              </a:spcAft>
              <a:defRPr sz="1200" b="0">
                <a:solidFill>
                  <a:srgbClr val="475569"/>
                </a:solidFill>
                <a:latin typeface="微软雅黑"/>
              </a:defRPr>
            </a:pPr>
            <a:r>
              <a:t>AI赋能环保实业：从企业管理到智能水处理装备的落地路径</a:t>
            </a:r>
          </a:p>
        </p:txBody>
      </p:sp>
      <p:sp>
        <p:nvSpPr>
          <p:cNvPr id="16" name="TextBox 15"/>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AI赋能环保企业的完整框架</a:t>
            </a:r>
          </a:p>
        </p:txBody>
      </p:sp>
      <p:sp>
        <p:nvSpPr>
          <p:cNvPr id="3" name="Rounded Rectangle 2"/>
          <p:cNvSpPr/>
          <p:nvPr/>
        </p:nvSpPr>
        <p:spPr>
          <a:xfrm>
            <a:off x="731520" y="1371600"/>
            <a:ext cx="2560320" cy="256032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2560320" cy="508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210312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企业经营端</a:t>
            </a:r>
          </a:p>
        </p:txBody>
      </p:sp>
      <p:sp>
        <p:nvSpPr>
          <p:cNvPr id="6" name="TextBox 5"/>
          <p:cNvSpPr txBox="1"/>
          <p:nvPr/>
        </p:nvSpPr>
        <p:spPr>
          <a:xfrm>
            <a:off x="960120" y="1920240"/>
            <a:ext cx="2103120" cy="192024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知识库建设</a:t>
            </a:r>
          </a:p>
          <a:p>
            <a:pPr>
              <a:lnSpc>
                <a:spcPts val="1950"/>
              </a:lnSpc>
              <a:spcAft>
                <a:spcPts val="200"/>
              </a:spcAft>
              <a:defRPr sz="1300">
                <a:solidFill>
                  <a:srgbClr val="475569"/>
                </a:solidFill>
                <a:latin typeface="微软雅黑"/>
              </a:defRPr>
            </a:pPr>
            <a:r>
              <a:t>• 项目管理AI化</a:t>
            </a:r>
          </a:p>
          <a:p>
            <a:pPr>
              <a:lnSpc>
                <a:spcPts val="1950"/>
              </a:lnSpc>
              <a:spcAft>
                <a:spcPts val="200"/>
              </a:spcAft>
              <a:defRPr sz="1300">
                <a:solidFill>
                  <a:srgbClr val="475569"/>
                </a:solidFill>
                <a:latin typeface="微软雅黑"/>
              </a:defRPr>
            </a:pPr>
            <a:r>
              <a:t>• 财务成本测算</a:t>
            </a:r>
          </a:p>
        </p:txBody>
      </p:sp>
      <p:sp>
        <p:nvSpPr>
          <p:cNvPr id="7" name="Rounded Rectangle 6"/>
          <p:cNvSpPr/>
          <p:nvPr/>
        </p:nvSpPr>
        <p:spPr>
          <a:xfrm>
            <a:off x="3520439" y="1371600"/>
            <a:ext cx="2560320" cy="256032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20439" y="1371600"/>
            <a:ext cx="256032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39" y="1554480"/>
            <a:ext cx="210312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市场营销端</a:t>
            </a:r>
          </a:p>
        </p:txBody>
      </p:sp>
      <p:sp>
        <p:nvSpPr>
          <p:cNvPr id="10" name="TextBox 9"/>
          <p:cNvSpPr txBox="1"/>
          <p:nvPr/>
        </p:nvSpPr>
        <p:spPr>
          <a:xfrm>
            <a:off x="3749039" y="1920240"/>
            <a:ext cx="2103120" cy="192024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客户画像获客</a:t>
            </a:r>
          </a:p>
          <a:p>
            <a:pPr>
              <a:lnSpc>
                <a:spcPts val="1950"/>
              </a:lnSpc>
              <a:spcAft>
                <a:spcPts val="200"/>
              </a:spcAft>
              <a:defRPr sz="1300">
                <a:solidFill>
                  <a:srgbClr val="475569"/>
                </a:solidFill>
                <a:latin typeface="微软雅黑"/>
              </a:defRPr>
            </a:pPr>
            <a:r>
              <a:t>• 内容生产矩阵</a:t>
            </a:r>
          </a:p>
          <a:p>
            <a:pPr>
              <a:lnSpc>
                <a:spcPts val="1950"/>
              </a:lnSpc>
              <a:spcAft>
                <a:spcPts val="200"/>
              </a:spcAft>
              <a:defRPr sz="1300">
                <a:solidFill>
                  <a:srgbClr val="475569"/>
                </a:solidFill>
                <a:latin typeface="微软雅黑"/>
              </a:defRPr>
            </a:pPr>
            <a:r>
              <a:t>• 数字展厅可视化</a:t>
            </a:r>
          </a:p>
        </p:txBody>
      </p:sp>
      <p:sp>
        <p:nvSpPr>
          <p:cNvPr id="11" name="Rounded Rectangle 10"/>
          <p:cNvSpPr/>
          <p:nvPr/>
        </p:nvSpPr>
        <p:spPr>
          <a:xfrm>
            <a:off x="6309359" y="1371600"/>
            <a:ext cx="2560320" cy="256032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59" y="1371600"/>
            <a:ext cx="256032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1554480"/>
            <a:ext cx="210312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工程项目端</a:t>
            </a:r>
          </a:p>
        </p:txBody>
      </p:sp>
      <p:sp>
        <p:nvSpPr>
          <p:cNvPr id="14" name="TextBox 13"/>
          <p:cNvSpPr txBox="1"/>
          <p:nvPr/>
        </p:nvSpPr>
        <p:spPr>
          <a:xfrm>
            <a:off x="6537959" y="1920240"/>
            <a:ext cx="2103120" cy="192024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工艺方案设计</a:t>
            </a:r>
          </a:p>
          <a:p>
            <a:pPr>
              <a:lnSpc>
                <a:spcPts val="1950"/>
              </a:lnSpc>
              <a:spcAft>
                <a:spcPts val="200"/>
              </a:spcAft>
              <a:defRPr sz="1300">
                <a:solidFill>
                  <a:srgbClr val="475569"/>
                </a:solidFill>
                <a:latin typeface="微软雅黑"/>
              </a:defRPr>
            </a:pPr>
            <a:r>
              <a:t>• 项目诊断工具</a:t>
            </a:r>
          </a:p>
          <a:p>
            <a:pPr>
              <a:lnSpc>
                <a:spcPts val="1950"/>
              </a:lnSpc>
              <a:spcAft>
                <a:spcPts val="200"/>
              </a:spcAft>
              <a:defRPr sz="1300">
                <a:solidFill>
                  <a:srgbClr val="475569"/>
                </a:solidFill>
                <a:latin typeface="微软雅黑"/>
              </a:defRPr>
            </a:pPr>
            <a:r>
              <a:t>• 投标文件生成</a:t>
            </a:r>
          </a:p>
        </p:txBody>
      </p:sp>
      <p:sp>
        <p:nvSpPr>
          <p:cNvPr id="15" name="Rounded Rectangle 14"/>
          <p:cNvSpPr/>
          <p:nvPr/>
        </p:nvSpPr>
        <p:spPr>
          <a:xfrm>
            <a:off x="9098280" y="1371600"/>
            <a:ext cx="2560320" cy="256032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98280" y="1371600"/>
            <a:ext cx="2560320"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1554480"/>
            <a:ext cx="210312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产品设备端</a:t>
            </a:r>
          </a:p>
        </p:txBody>
      </p:sp>
      <p:sp>
        <p:nvSpPr>
          <p:cNvPr id="18" name="TextBox 17"/>
          <p:cNvSpPr txBox="1"/>
          <p:nvPr/>
        </p:nvSpPr>
        <p:spPr>
          <a:xfrm>
            <a:off x="9326880" y="1920240"/>
            <a:ext cx="2103120" cy="192024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智能控制柜</a:t>
            </a:r>
          </a:p>
          <a:p>
            <a:pPr>
              <a:lnSpc>
                <a:spcPts val="1950"/>
              </a:lnSpc>
              <a:spcAft>
                <a:spcPts val="200"/>
              </a:spcAft>
              <a:defRPr sz="1300">
                <a:solidFill>
                  <a:srgbClr val="475569"/>
                </a:solidFill>
                <a:latin typeface="微软雅黑"/>
              </a:defRPr>
            </a:pPr>
            <a:r>
              <a:t>• 臭氧/曝气AI控制</a:t>
            </a:r>
          </a:p>
          <a:p>
            <a:pPr>
              <a:lnSpc>
                <a:spcPts val="1950"/>
              </a:lnSpc>
              <a:spcAft>
                <a:spcPts val="200"/>
              </a:spcAft>
              <a:defRPr sz="1300">
                <a:solidFill>
                  <a:srgbClr val="475569"/>
                </a:solidFill>
                <a:latin typeface="微软雅黑"/>
              </a:defRPr>
            </a:pPr>
            <a:r>
              <a:t>• 水质预测与故障预警</a:t>
            </a:r>
          </a:p>
        </p:txBody>
      </p:sp>
      <p:sp>
        <p:nvSpPr>
          <p:cNvPr id="19" name="TextBox 18"/>
          <p:cNvSpPr txBox="1"/>
          <p:nvPr/>
        </p:nvSpPr>
        <p:spPr>
          <a:xfrm>
            <a:off x="731520" y="4389120"/>
            <a:ext cx="10058400" cy="365760"/>
          </a:xfrm>
          <a:prstGeom prst="rect">
            <a:avLst/>
          </a:prstGeom>
          <a:noFill/>
        </p:spPr>
        <p:txBody>
          <a:bodyPr wrap="square">
            <a:spAutoFit/>
          </a:bodyPr>
          <a:lstStyle/>
          <a:p>
            <a:pPr algn="l">
              <a:lnSpc>
                <a:spcPts val="1690"/>
              </a:lnSpc>
              <a:spcAft>
                <a:spcPts val="0"/>
              </a:spcAft>
              <a:defRPr sz="1300" b="0">
                <a:solidFill>
                  <a:srgbClr val="64748B"/>
                </a:solidFill>
                <a:latin typeface="微软雅黑"/>
              </a:defRPr>
            </a:pPr>
            <a:r>
              <a:t>比原来只分"企业端"和"产品端"更饱满——四大板块覆盖企业经营全链路</a:t>
            </a:r>
          </a:p>
        </p:txBody>
      </p:sp>
      <p:sp>
        <p:nvSpPr>
          <p:cNvPr id="20" name="TextBox 19"/>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194560"/>
            <a:ext cx="10058400" cy="365760"/>
          </a:xfrm>
          <a:prstGeom prst="rect">
            <a:avLst/>
          </a:prstGeom>
          <a:noFill/>
        </p:spPr>
        <p:txBody>
          <a:bodyPr wrap="square">
            <a:spAutoFit/>
          </a:bodyPr>
          <a:lstStyle/>
          <a:p>
            <a:pPr algn="ctr">
              <a:lnSpc>
                <a:spcPts val="1690"/>
              </a:lnSpc>
              <a:spcAft>
                <a:spcPts val="0"/>
              </a:spcAft>
              <a:defRPr sz="1300" b="1">
                <a:solidFill>
                  <a:srgbClr val="0EA5E9"/>
                </a:solidFill>
                <a:latin typeface="微软雅黑"/>
              </a:defRPr>
            </a:pPr>
            <a:r>
              <a:t>板块一</a:t>
            </a:r>
          </a:p>
        </p:txBody>
      </p:sp>
      <p:sp>
        <p:nvSpPr>
          <p:cNvPr id="3" name="TextBox 2"/>
          <p:cNvSpPr txBox="1"/>
          <p:nvPr/>
        </p:nvSpPr>
        <p:spPr>
          <a:xfrm>
            <a:off x="914400" y="2651760"/>
            <a:ext cx="10058400" cy="731520"/>
          </a:xfrm>
          <a:prstGeom prst="rect">
            <a:avLst/>
          </a:prstGeom>
          <a:noFill/>
        </p:spPr>
        <p:txBody>
          <a:bodyPr wrap="square">
            <a:spAutoFit/>
          </a:bodyPr>
          <a:lstStyle/>
          <a:p>
            <a:pPr algn="ctr">
              <a:lnSpc>
                <a:spcPts val="5200"/>
              </a:lnSpc>
              <a:spcAft>
                <a:spcPts val="0"/>
              </a:spcAft>
              <a:defRPr sz="4000" b="1">
                <a:solidFill>
                  <a:srgbClr val="FFFFFF"/>
                </a:solidFill>
                <a:latin typeface="微软雅黑"/>
              </a:defRPr>
            </a:pPr>
            <a:r>
              <a:t>企业经营端 AI 赋能</a:t>
            </a:r>
          </a:p>
        </p:txBody>
      </p:sp>
      <p:sp>
        <p:nvSpPr>
          <p:cNvPr id="4" name="TextBox 3"/>
          <p:cNvSpPr txBox="1"/>
          <p:nvPr/>
        </p:nvSpPr>
        <p:spPr>
          <a:xfrm>
            <a:off x="914400" y="3566160"/>
            <a:ext cx="10058400" cy="365760"/>
          </a:xfrm>
          <a:prstGeom prst="rect">
            <a:avLst/>
          </a:prstGeom>
          <a:noFill/>
        </p:spPr>
        <p:txBody>
          <a:bodyPr wrap="square">
            <a:spAutoFit/>
          </a:bodyPr>
          <a:lstStyle/>
          <a:p>
            <a:pPr algn="ctr">
              <a:lnSpc>
                <a:spcPts val="2080"/>
              </a:lnSpc>
              <a:spcAft>
                <a:spcPts val="0"/>
              </a:spcAft>
              <a:defRPr sz="1600" b="0">
                <a:solidFill>
                  <a:srgbClr val="94A3B8"/>
                </a:solidFill>
                <a:latin typeface="微软雅黑"/>
              </a:defRPr>
            </a:pPr>
            <a:r>
              <a:t>知识库  ·  项目管理  ·  财务成本</a:t>
            </a:r>
          </a:p>
        </p:txBody>
      </p:sp>
      <p:sp>
        <p:nvSpPr>
          <p:cNvPr id="5" name="TextBox 4"/>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企业知识库与技术资料管理</a:t>
            </a:r>
          </a:p>
        </p:txBody>
      </p:sp>
      <p:sp>
        <p:nvSpPr>
          <p:cNvPr id="3" name="TextBox 2"/>
          <p:cNvSpPr txBox="1"/>
          <p:nvPr/>
        </p:nvSpPr>
        <p:spPr>
          <a:xfrm>
            <a:off x="731520" y="1188720"/>
            <a:ext cx="2743200" cy="365760"/>
          </a:xfrm>
          <a:prstGeom prst="rect">
            <a:avLst/>
          </a:prstGeom>
          <a:noFill/>
        </p:spPr>
        <p:txBody>
          <a:bodyPr wrap="square">
            <a:spAutoFit/>
          </a:bodyPr>
          <a:lstStyle/>
          <a:p>
            <a:pPr algn="l">
              <a:lnSpc>
                <a:spcPts val="2080"/>
              </a:lnSpc>
              <a:spcAft>
                <a:spcPts val="0"/>
              </a:spcAft>
              <a:defRPr sz="1600" b="1">
                <a:solidFill>
                  <a:srgbClr val="0F172A"/>
                </a:solidFill>
                <a:latin typeface="微软雅黑"/>
              </a:defRPr>
            </a:pPr>
            <a:r>
              <a:t>企业现有资料</a:t>
            </a:r>
          </a:p>
        </p:txBody>
      </p:sp>
      <p:sp>
        <p:nvSpPr>
          <p:cNvPr id="4" name="Rectangle 3"/>
          <p:cNvSpPr/>
          <p:nvPr/>
        </p:nvSpPr>
        <p:spPr>
          <a:xfrm>
            <a:off x="731520" y="1508760"/>
            <a:ext cx="365760" cy="381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4572000" cy="27432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工艺方案</a:t>
            </a:r>
          </a:p>
          <a:p>
            <a:pPr>
              <a:lnSpc>
                <a:spcPts val="1950"/>
              </a:lnSpc>
              <a:spcAft>
                <a:spcPts val="200"/>
              </a:spcAft>
              <a:defRPr sz="1300">
                <a:solidFill>
                  <a:srgbClr val="475569"/>
                </a:solidFill>
                <a:latin typeface="微软雅黑"/>
              </a:defRPr>
            </a:pPr>
            <a:r>
              <a:t>▸ 设备说明书</a:t>
            </a:r>
          </a:p>
          <a:p>
            <a:pPr>
              <a:lnSpc>
                <a:spcPts val="1950"/>
              </a:lnSpc>
              <a:spcAft>
                <a:spcPts val="200"/>
              </a:spcAft>
              <a:defRPr sz="1300">
                <a:solidFill>
                  <a:srgbClr val="475569"/>
                </a:solidFill>
                <a:latin typeface="微软雅黑"/>
              </a:defRPr>
            </a:pPr>
            <a:r>
              <a:t>▸ 项目案例</a:t>
            </a:r>
          </a:p>
          <a:p>
            <a:pPr>
              <a:lnSpc>
                <a:spcPts val="1950"/>
              </a:lnSpc>
              <a:spcAft>
                <a:spcPts val="200"/>
              </a:spcAft>
              <a:defRPr sz="1300">
                <a:solidFill>
                  <a:srgbClr val="475569"/>
                </a:solidFill>
                <a:latin typeface="微软雅黑"/>
              </a:defRPr>
            </a:pPr>
            <a:r>
              <a:t>▸ 报价模板</a:t>
            </a:r>
          </a:p>
          <a:p>
            <a:pPr>
              <a:lnSpc>
                <a:spcPts val="1950"/>
              </a:lnSpc>
              <a:spcAft>
                <a:spcPts val="200"/>
              </a:spcAft>
              <a:defRPr sz="1300">
                <a:solidFill>
                  <a:srgbClr val="475569"/>
                </a:solidFill>
                <a:latin typeface="微软雅黑"/>
              </a:defRPr>
            </a:pPr>
            <a:r>
              <a:t>▸ 投标文件</a:t>
            </a:r>
          </a:p>
          <a:p>
            <a:pPr>
              <a:lnSpc>
                <a:spcPts val="1950"/>
              </a:lnSpc>
              <a:spcAft>
                <a:spcPts val="200"/>
              </a:spcAft>
              <a:defRPr sz="1300">
                <a:solidFill>
                  <a:srgbClr val="475569"/>
                </a:solidFill>
                <a:latin typeface="微软雅黑"/>
              </a:defRPr>
            </a:pPr>
            <a:r>
              <a:t>▸ 设计图纸</a:t>
            </a:r>
          </a:p>
          <a:p>
            <a:pPr>
              <a:lnSpc>
                <a:spcPts val="1950"/>
              </a:lnSpc>
              <a:spcAft>
                <a:spcPts val="200"/>
              </a:spcAft>
              <a:defRPr sz="1300">
                <a:solidFill>
                  <a:srgbClr val="475569"/>
                </a:solidFill>
                <a:latin typeface="微软雅黑"/>
              </a:defRPr>
            </a:pPr>
            <a:r>
              <a:t>▸ 运维记录</a:t>
            </a:r>
          </a:p>
          <a:p>
            <a:pPr>
              <a:lnSpc>
                <a:spcPts val="1950"/>
              </a:lnSpc>
              <a:spcAft>
                <a:spcPts val="200"/>
              </a:spcAft>
              <a:defRPr sz="1300">
                <a:solidFill>
                  <a:srgbClr val="475569"/>
                </a:solidFill>
                <a:latin typeface="微软雅黑"/>
              </a:defRPr>
            </a:pPr>
            <a:r>
              <a:t>▸ 水质检测报告</a:t>
            </a:r>
          </a:p>
          <a:p>
            <a:pPr>
              <a:lnSpc>
                <a:spcPts val="1950"/>
              </a:lnSpc>
              <a:spcAft>
                <a:spcPts val="200"/>
              </a:spcAft>
              <a:defRPr sz="1300">
                <a:solidFill>
                  <a:srgbClr val="475569"/>
                </a:solidFill>
                <a:latin typeface="微软雅黑"/>
              </a:defRPr>
            </a:pPr>
            <a:r>
              <a:t>▸ 常见问题处理经验</a:t>
            </a:r>
          </a:p>
        </p:txBody>
      </p:sp>
      <p:sp>
        <p:nvSpPr>
          <p:cNvPr id="6" name="TextBox 5"/>
          <p:cNvSpPr txBox="1"/>
          <p:nvPr/>
        </p:nvSpPr>
        <p:spPr>
          <a:xfrm>
            <a:off x="6217920" y="1188720"/>
            <a:ext cx="4572000" cy="365760"/>
          </a:xfrm>
          <a:prstGeom prst="rect">
            <a:avLst/>
          </a:prstGeom>
          <a:noFill/>
        </p:spPr>
        <p:txBody>
          <a:bodyPr wrap="square">
            <a:spAutoFit/>
          </a:bodyPr>
          <a:lstStyle/>
          <a:p>
            <a:pPr algn="l">
              <a:lnSpc>
                <a:spcPts val="2080"/>
              </a:lnSpc>
              <a:spcAft>
                <a:spcPts val="0"/>
              </a:spcAft>
              <a:defRPr sz="1600" b="1">
                <a:solidFill>
                  <a:srgbClr val="0F172A"/>
                </a:solidFill>
                <a:latin typeface="微软雅黑"/>
              </a:defRPr>
            </a:pPr>
            <a:r>
              <a:t>AI知识库能回答的问题</a:t>
            </a:r>
          </a:p>
        </p:txBody>
      </p:sp>
      <p:sp>
        <p:nvSpPr>
          <p:cNvPr id="7" name="Rectangle 6"/>
          <p:cNvSpPr/>
          <p:nvPr/>
        </p:nvSpPr>
        <p:spPr>
          <a:xfrm>
            <a:off x="6217920" y="1508760"/>
            <a:ext cx="365760" cy="381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645920"/>
            <a:ext cx="5029200" cy="27432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某类工业废水适合什么工艺？</a:t>
            </a:r>
          </a:p>
          <a:p>
            <a:pPr>
              <a:lnSpc>
                <a:spcPts val="1950"/>
              </a:lnSpc>
              <a:spcAft>
                <a:spcPts val="200"/>
              </a:spcAft>
              <a:defRPr sz="1300">
                <a:solidFill>
                  <a:srgbClr val="475569"/>
                </a:solidFill>
                <a:latin typeface="微软雅黑"/>
              </a:defRPr>
            </a:pPr>
            <a:r>
              <a:t>▸ 超微纳米曝气的优势怎么表达？</a:t>
            </a:r>
          </a:p>
          <a:p>
            <a:pPr>
              <a:lnSpc>
                <a:spcPts val="1950"/>
              </a:lnSpc>
              <a:spcAft>
                <a:spcPts val="200"/>
              </a:spcAft>
              <a:defRPr sz="1300">
                <a:solidFill>
                  <a:srgbClr val="475569"/>
                </a:solidFill>
                <a:latin typeface="微软雅黑"/>
              </a:defRPr>
            </a:pPr>
            <a:r>
              <a:t>▸ 臭氧催化氧化设备选型依据？</a:t>
            </a:r>
          </a:p>
          <a:p>
            <a:pPr>
              <a:lnSpc>
                <a:spcPts val="1950"/>
              </a:lnSpc>
              <a:spcAft>
                <a:spcPts val="200"/>
              </a:spcAft>
              <a:defRPr sz="1300">
                <a:solidFill>
                  <a:srgbClr val="475569"/>
                </a:solidFill>
                <a:latin typeface="微软雅黑"/>
              </a:defRPr>
            </a:pPr>
            <a:r>
              <a:t>▸ 某个项目类似案例有哪些？</a:t>
            </a:r>
          </a:p>
          <a:p>
            <a:pPr>
              <a:lnSpc>
                <a:spcPts val="1950"/>
              </a:lnSpc>
              <a:spcAft>
                <a:spcPts val="200"/>
              </a:spcAft>
              <a:defRPr sz="1300">
                <a:solidFill>
                  <a:srgbClr val="475569"/>
                </a:solidFill>
                <a:latin typeface="微软雅黑"/>
              </a:defRPr>
            </a:pPr>
            <a:r>
              <a:t>▸ 技术方案怎么写？</a:t>
            </a:r>
          </a:p>
          <a:p>
            <a:pPr>
              <a:lnSpc>
                <a:spcPts val="1950"/>
              </a:lnSpc>
              <a:spcAft>
                <a:spcPts val="200"/>
              </a:spcAft>
              <a:defRPr sz="1300">
                <a:solidFill>
                  <a:srgbClr val="475569"/>
                </a:solidFill>
                <a:latin typeface="微软雅黑"/>
              </a:defRPr>
            </a:pPr>
            <a:r>
              <a:t>▸ 标书中的技术响应怎么生成？</a:t>
            </a:r>
          </a:p>
        </p:txBody>
      </p:sp>
      <p:sp>
        <p:nvSpPr>
          <p:cNvPr id="9" name="Rounded Rectangle 8"/>
          <p:cNvSpPr/>
          <p:nvPr/>
        </p:nvSpPr>
        <p:spPr>
          <a:xfrm>
            <a:off x="731520" y="4846320"/>
            <a:ext cx="10698480" cy="1371600"/>
          </a:xfrm>
          <a:prstGeom prst="roundRect">
            <a:avLst>
              <a:gd name="adj" fmla="val 4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029200"/>
            <a:ext cx="3657600" cy="320040"/>
          </a:xfrm>
          <a:prstGeom prst="rect">
            <a:avLst/>
          </a:prstGeom>
          <a:noFill/>
        </p:spPr>
        <p:txBody>
          <a:bodyPr wrap="square">
            <a:spAutoFit/>
          </a:bodyPr>
          <a:lstStyle/>
          <a:p>
            <a:pPr algn="l">
              <a:lnSpc>
                <a:spcPts val="1950"/>
              </a:lnSpc>
              <a:spcAft>
                <a:spcPts val="0"/>
              </a:spcAft>
              <a:defRPr sz="1500" b="1">
                <a:solidFill>
                  <a:srgbClr val="FFFFFF"/>
                </a:solidFill>
                <a:latin typeface="微软雅黑"/>
              </a:defRPr>
            </a:pPr>
            <a:r>
              <a:t>短期成果（投入低、见效快）</a:t>
            </a:r>
          </a:p>
        </p:txBody>
      </p:sp>
      <p:sp>
        <p:nvSpPr>
          <p:cNvPr id="11" name="TextBox 10"/>
          <p:cNvSpPr txBox="1"/>
          <p:nvPr/>
        </p:nvSpPr>
        <p:spPr>
          <a:xfrm>
            <a:off x="1005840" y="5440680"/>
            <a:ext cx="10058400" cy="548640"/>
          </a:xfrm>
          <a:prstGeom prst="rect">
            <a:avLst/>
          </a:prstGeom>
          <a:noFill/>
        </p:spPr>
        <p:txBody>
          <a:bodyPr wrap="square">
            <a:spAutoFit/>
          </a:bodyPr>
          <a:lstStyle/>
          <a:p>
            <a:pPr algn="l">
              <a:lnSpc>
                <a:spcPts val="1820"/>
              </a:lnSpc>
              <a:spcAft>
                <a:spcPts val="0"/>
              </a:spcAft>
              <a:defRPr sz="1400" b="0">
                <a:solidFill>
                  <a:srgbClr val="CCFBF1"/>
                </a:solidFill>
                <a:latin typeface="微软雅黑"/>
              </a:defRPr>
            </a:pPr>
            <a:r>
              <a:t>内部AI助手  ·  技术方案自动生成  ·  销售问答助手  ·  标书初稿自动生成  ·  项目案例智能检索</a:t>
            </a:r>
          </a:p>
        </p:txBody>
      </p:sp>
      <p:sp>
        <p:nvSpPr>
          <p:cNvPr id="12" name="TextBox 11"/>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项目管理 &amp; 财务成本AI化</a:t>
            </a:r>
          </a:p>
        </p:txBody>
      </p:sp>
      <p:sp>
        <p:nvSpPr>
          <p:cNvPr id="3" name="Rounded Rectangle 2"/>
          <p:cNvSpPr/>
          <p:nvPr/>
        </p:nvSpPr>
        <p:spPr>
          <a:xfrm>
            <a:off x="731520" y="1280160"/>
            <a:ext cx="5212080" cy="41148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280160"/>
            <a:ext cx="521208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475488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  项目管理AI化</a:t>
            </a:r>
          </a:p>
        </p:txBody>
      </p:sp>
      <p:sp>
        <p:nvSpPr>
          <p:cNvPr id="6" name="TextBox 5"/>
          <p:cNvSpPr txBox="1"/>
          <p:nvPr/>
        </p:nvSpPr>
        <p:spPr>
          <a:xfrm>
            <a:off x="960120" y="1828800"/>
            <a:ext cx="4754880" cy="3474720"/>
          </a:xfrm>
          <a:prstGeom prst="rect">
            <a:avLst/>
          </a:prstGeom>
          <a:noFill/>
        </p:spPr>
        <p:txBody>
          <a:bodyPr wrap="square">
            <a:spAutoFit/>
          </a:bodyPr>
          <a:lstStyle/>
          <a:p>
            <a:pPr>
              <a:lnSpc>
                <a:spcPts val="2100"/>
              </a:lnSpc>
              <a:spcAft>
                <a:spcPts val="200"/>
              </a:spcAft>
              <a:defRPr sz="1400">
                <a:solidFill>
                  <a:srgbClr val="475569"/>
                </a:solidFill>
                <a:latin typeface="微软雅黑"/>
              </a:defRPr>
            </a:pPr>
            <a:r>
              <a:t>• 项目进度自动提醒</a:t>
            </a:r>
          </a:p>
          <a:p>
            <a:pPr>
              <a:lnSpc>
                <a:spcPts val="2100"/>
              </a:lnSpc>
              <a:spcAft>
                <a:spcPts val="200"/>
              </a:spcAft>
              <a:defRPr sz="1400">
                <a:solidFill>
                  <a:srgbClr val="475569"/>
                </a:solidFill>
                <a:latin typeface="微软雅黑"/>
              </a:defRPr>
            </a:pPr>
            <a:r>
              <a:t>• 项目风险识别</a:t>
            </a:r>
          </a:p>
          <a:p>
            <a:pPr>
              <a:lnSpc>
                <a:spcPts val="2100"/>
              </a:lnSpc>
              <a:spcAft>
                <a:spcPts val="200"/>
              </a:spcAft>
              <a:defRPr sz="1400">
                <a:solidFill>
                  <a:srgbClr val="475569"/>
                </a:solidFill>
                <a:latin typeface="微软雅黑"/>
              </a:defRPr>
            </a:pPr>
            <a:r>
              <a:t>• 施工日志智能整理</a:t>
            </a:r>
          </a:p>
          <a:p>
            <a:pPr>
              <a:lnSpc>
                <a:spcPts val="2100"/>
              </a:lnSpc>
              <a:spcAft>
                <a:spcPts val="200"/>
              </a:spcAft>
              <a:defRPr sz="1400">
                <a:solidFill>
                  <a:srgbClr val="475569"/>
                </a:solidFill>
                <a:latin typeface="微软雅黑"/>
              </a:defRPr>
            </a:pPr>
            <a:r>
              <a:t>• 会议纪要自动生成</a:t>
            </a:r>
          </a:p>
          <a:p>
            <a:pPr>
              <a:lnSpc>
                <a:spcPts val="2100"/>
              </a:lnSpc>
              <a:spcAft>
                <a:spcPts val="200"/>
              </a:spcAft>
              <a:defRPr sz="1400">
                <a:solidFill>
                  <a:srgbClr val="475569"/>
                </a:solidFill>
                <a:latin typeface="微软雅黑"/>
              </a:defRPr>
            </a:pPr>
            <a:r>
              <a:t>• 日报/周报自动生成</a:t>
            </a:r>
          </a:p>
          <a:p>
            <a:pPr>
              <a:lnSpc>
                <a:spcPts val="2100"/>
              </a:lnSpc>
              <a:spcAft>
                <a:spcPts val="200"/>
              </a:spcAft>
              <a:defRPr sz="1400">
                <a:solidFill>
                  <a:srgbClr val="475569"/>
                </a:solidFill>
                <a:latin typeface="微软雅黑"/>
              </a:defRPr>
            </a:pPr>
            <a:r>
              <a:t>• 采购/发货/调试节点自动跟踪</a:t>
            </a:r>
          </a:p>
        </p:txBody>
      </p:sp>
      <p:sp>
        <p:nvSpPr>
          <p:cNvPr id="7" name="TextBox 6"/>
          <p:cNvSpPr txBox="1"/>
          <p:nvPr/>
        </p:nvSpPr>
        <p:spPr>
          <a:xfrm>
            <a:off x="1005840" y="4572000"/>
            <a:ext cx="4572000" cy="365760"/>
          </a:xfrm>
          <a:prstGeom prst="rect">
            <a:avLst/>
          </a:prstGeom>
          <a:noFill/>
        </p:spPr>
        <p:txBody>
          <a:bodyPr wrap="square">
            <a:spAutoFit/>
          </a:bodyPr>
          <a:lstStyle/>
          <a:p>
            <a:pPr algn="l">
              <a:lnSpc>
                <a:spcPts val="1560"/>
              </a:lnSpc>
              <a:spcAft>
                <a:spcPts val="0"/>
              </a:spcAft>
              <a:defRPr sz="1200" b="1">
                <a:solidFill>
                  <a:srgbClr val="059E69"/>
                </a:solidFill>
                <a:latin typeface="微软雅黑"/>
              </a:defRPr>
            </a:pPr>
            <a:r>
              <a:t>价值：降低沟通成本 · 减少对人依赖 · 积累数据</a:t>
            </a:r>
          </a:p>
        </p:txBody>
      </p:sp>
      <p:sp>
        <p:nvSpPr>
          <p:cNvPr id="8" name="Rounded Rectangle 7"/>
          <p:cNvSpPr/>
          <p:nvPr/>
        </p:nvSpPr>
        <p:spPr>
          <a:xfrm>
            <a:off x="6217920" y="1280160"/>
            <a:ext cx="5212080" cy="41148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280160"/>
            <a:ext cx="521208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463040"/>
            <a:ext cx="475488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  财务与成本测算AI化</a:t>
            </a:r>
          </a:p>
        </p:txBody>
      </p:sp>
      <p:sp>
        <p:nvSpPr>
          <p:cNvPr id="11" name="TextBox 10"/>
          <p:cNvSpPr txBox="1"/>
          <p:nvPr/>
        </p:nvSpPr>
        <p:spPr>
          <a:xfrm>
            <a:off x="6446520" y="1828800"/>
            <a:ext cx="4754880" cy="3474720"/>
          </a:xfrm>
          <a:prstGeom prst="rect">
            <a:avLst/>
          </a:prstGeom>
          <a:noFill/>
        </p:spPr>
        <p:txBody>
          <a:bodyPr wrap="square">
            <a:spAutoFit/>
          </a:bodyPr>
          <a:lstStyle/>
          <a:p>
            <a:pPr>
              <a:lnSpc>
                <a:spcPts val="2100"/>
              </a:lnSpc>
              <a:spcAft>
                <a:spcPts val="200"/>
              </a:spcAft>
              <a:defRPr sz="1400">
                <a:solidFill>
                  <a:srgbClr val="475569"/>
                </a:solidFill>
                <a:latin typeface="微软雅黑"/>
              </a:defRPr>
            </a:pPr>
            <a:r>
              <a:t>• 项目报价辅助模型</a:t>
            </a:r>
          </a:p>
          <a:p>
            <a:pPr>
              <a:lnSpc>
                <a:spcPts val="2100"/>
              </a:lnSpc>
              <a:spcAft>
                <a:spcPts val="200"/>
              </a:spcAft>
              <a:defRPr sz="1400">
                <a:solidFill>
                  <a:srgbClr val="475569"/>
                </a:solidFill>
                <a:latin typeface="微软雅黑"/>
              </a:defRPr>
            </a:pPr>
            <a:r>
              <a:t>• 运维成本测算模型</a:t>
            </a:r>
          </a:p>
          <a:p>
            <a:pPr>
              <a:lnSpc>
                <a:spcPts val="2100"/>
              </a:lnSpc>
              <a:spcAft>
                <a:spcPts val="200"/>
              </a:spcAft>
              <a:defRPr sz="1400">
                <a:solidFill>
                  <a:srgbClr val="475569"/>
                </a:solidFill>
                <a:latin typeface="微软雅黑"/>
              </a:defRPr>
            </a:pPr>
            <a:r>
              <a:t>• 投资回收期测算</a:t>
            </a:r>
          </a:p>
          <a:p>
            <a:pPr>
              <a:lnSpc>
                <a:spcPts val="2100"/>
              </a:lnSpc>
              <a:spcAft>
                <a:spcPts val="200"/>
              </a:spcAft>
              <a:defRPr sz="1400">
                <a:solidFill>
                  <a:srgbClr val="475569"/>
                </a:solidFill>
                <a:latin typeface="微软雅黑"/>
              </a:defRPr>
            </a:pPr>
            <a:r>
              <a:t>• 不同工艺路线成本对比</a:t>
            </a:r>
          </a:p>
          <a:p>
            <a:pPr>
              <a:lnSpc>
                <a:spcPts val="2100"/>
              </a:lnSpc>
              <a:spcAft>
                <a:spcPts val="200"/>
              </a:spcAft>
              <a:defRPr sz="1400">
                <a:solidFill>
                  <a:srgbClr val="475569"/>
                </a:solidFill>
                <a:latin typeface="微软雅黑"/>
              </a:defRPr>
            </a:pPr>
            <a:r>
              <a:t>• 项目毛利预警</a:t>
            </a:r>
          </a:p>
          <a:p>
            <a:pPr>
              <a:lnSpc>
                <a:spcPts val="2100"/>
              </a:lnSpc>
              <a:spcAft>
                <a:spcPts val="200"/>
              </a:spcAft>
              <a:defRPr sz="1400">
                <a:solidFill>
                  <a:srgbClr val="475569"/>
                </a:solidFill>
                <a:latin typeface="微软雅黑"/>
              </a:defRPr>
            </a:pPr>
            <a:r>
              <a:t>• 售前快速测算工具</a:t>
            </a:r>
          </a:p>
        </p:txBody>
      </p:sp>
      <p:sp>
        <p:nvSpPr>
          <p:cNvPr id="12" name="TextBox 11"/>
          <p:cNvSpPr txBox="1"/>
          <p:nvPr/>
        </p:nvSpPr>
        <p:spPr>
          <a:xfrm>
            <a:off x="6492240" y="4572000"/>
            <a:ext cx="4572000" cy="365760"/>
          </a:xfrm>
          <a:prstGeom prst="rect">
            <a:avLst/>
          </a:prstGeom>
          <a:noFill/>
        </p:spPr>
        <p:txBody>
          <a:bodyPr wrap="square">
            <a:spAutoFit/>
          </a:bodyPr>
          <a:lstStyle/>
          <a:p>
            <a:pPr algn="l">
              <a:lnSpc>
                <a:spcPts val="1560"/>
              </a:lnSpc>
              <a:spcAft>
                <a:spcPts val="0"/>
              </a:spcAft>
              <a:defRPr sz="1200" b="1">
                <a:solidFill>
                  <a:srgbClr val="B45309"/>
                </a:solidFill>
                <a:latin typeface="微软雅黑"/>
              </a:defRPr>
            </a:pPr>
            <a:r>
              <a:t>对外：快速展示改造前后成本对比，极具说服力</a:t>
            </a:r>
          </a:p>
        </p:txBody>
      </p:sp>
      <p:sp>
        <p:nvSpPr>
          <p:cNvPr id="13" name="TextBox 12"/>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194560"/>
            <a:ext cx="10058400" cy="365760"/>
          </a:xfrm>
          <a:prstGeom prst="rect">
            <a:avLst/>
          </a:prstGeom>
          <a:noFill/>
        </p:spPr>
        <p:txBody>
          <a:bodyPr wrap="square">
            <a:spAutoFit/>
          </a:bodyPr>
          <a:lstStyle/>
          <a:p>
            <a:pPr algn="ctr">
              <a:lnSpc>
                <a:spcPts val="1690"/>
              </a:lnSpc>
              <a:spcAft>
                <a:spcPts val="0"/>
              </a:spcAft>
              <a:defRPr sz="1300" b="1">
                <a:solidFill>
                  <a:srgbClr val="10B981"/>
                </a:solidFill>
                <a:latin typeface="微软雅黑"/>
              </a:defRPr>
            </a:pPr>
            <a:r>
              <a:t>板块二</a:t>
            </a:r>
          </a:p>
        </p:txBody>
      </p:sp>
      <p:sp>
        <p:nvSpPr>
          <p:cNvPr id="3" name="TextBox 2"/>
          <p:cNvSpPr txBox="1"/>
          <p:nvPr/>
        </p:nvSpPr>
        <p:spPr>
          <a:xfrm>
            <a:off x="914400" y="2651760"/>
            <a:ext cx="10058400" cy="731520"/>
          </a:xfrm>
          <a:prstGeom prst="rect">
            <a:avLst/>
          </a:prstGeom>
          <a:noFill/>
        </p:spPr>
        <p:txBody>
          <a:bodyPr wrap="square">
            <a:spAutoFit/>
          </a:bodyPr>
          <a:lstStyle/>
          <a:p>
            <a:pPr algn="ctr">
              <a:lnSpc>
                <a:spcPts val="5200"/>
              </a:lnSpc>
              <a:spcAft>
                <a:spcPts val="0"/>
              </a:spcAft>
              <a:defRPr sz="4000" b="1">
                <a:solidFill>
                  <a:srgbClr val="FFFFFF"/>
                </a:solidFill>
                <a:latin typeface="微软雅黑"/>
              </a:defRPr>
            </a:pPr>
            <a:r>
              <a:t>市场营销端 AI 赋能</a:t>
            </a:r>
          </a:p>
        </p:txBody>
      </p:sp>
      <p:sp>
        <p:nvSpPr>
          <p:cNvPr id="4" name="TextBox 3"/>
          <p:cNvSpPr txBox="1"/>
          <p:nvPr/>
        </p:nvSpPr>
        <p:spPr>
          <a:xfrm>
            <a:off x="914400" y="3566160"/>
            <a:ext cx="10058400" cy="365760"/>
          </a:xfrm>
          <a:prstGeom prst="rect">
            <a:avLst/>
          </a:prstGeom>
          <a:noFill/>
        </p:spPr>
        <p:txBody>
          <a:bodyPr wrap="square">
            <a:spAutoFit/>
          </a:bodyPr>
          <a:lstStyle/>
          <a:p>
            <a:pPr algn="ctr">
              <a:lnSpc>
                <a:spcPts val="2080"/>
              </a:lnSpc>
              <a:spcAft>
                <a:spcPts val="0"/>
              </a:spcAft>
              <a:defRPr sz="1600" b="0">
                <a:solidFill>
                  <a:srgbClr val="94A3B8"/>
                </a:solidFill>
                <a:latin typeface="微软雅黑"/>
              </a:defRPr>
            </a:pPr>
            <a:r>
              <a:t>精准获客  ·  内容生产矩阵  ·  数字展厅  ·  3D可视化</a:t>
            </a:r>
          </a:p>
        </p:txBody>
      </p:sp>
      <p:sp>
        <p:nvSpPr>
          <p:cNvPr id="5" name="TextBox 4"/>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AI客户画像与内容生产矩阵</a:t>
            </a:r>
          </a:p>
        </p:txBody>
      </p:sp>
      <p:sp>
        <p:nvSpPr>
          <p:cNvPr id="3" name="TextBox 2"/>
          <p:cNvSpPr txBox="1"/>
          <p:nvPr/>
        </p:nvSpPr>
        <p:spPr>
          <a:xfrm>
            <a:off x="731520" y="1188720"/>
            <a:ext cx="2743200" cy="365760"/>
          </a:xfrm>
          <a:prstGeom prst="rect">
            <a:avLst/>
          </a:prstGeom>
          <a:noFill/>
        </p:spPr>
        <p:txBody>
          <a:bodyPr wrap="square">
            <a:spAutoFit/>
          </a:bodyPr>
          <a:lstStyle/>
          <a:p>
            <a:pPr algn="l">
              <a:lnSpc>
                <a:spcPts val="2080"/>
              </a:lnSpc>
              <a:spcAft>
                <a:spcPts val="0"/>
              </a:spcAft>
              <a:defRPr sz="1600" b="1">
                <a:solidFill>
                  <a:srgbClr val="0F172A"/>
                </a:solidFill>
                <a:latin typeface="微软雅黑"/>
              </a:defRPr>
            </a:pPr>
            <a:r>
              <a:t>AI精准获客能力</a:t>
            </a:r>
          </a:p>
        </p:txBody>
      </p:sp>
      <p:sp>
        <p:nvSpPr>
          <p:cNvPr id="4" name="Rectangle 3"/>
          <p:cNvSpPr/>
          <p:nvPr/>
        </p:nvSpPr>
        <p:spPr>
          <a:xfrm>
            <a:off x="731520" y="1508760"/>
            <a:ext cx="365760" cy="381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029200" cy="22860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按行业筛选潜在客户</a:t>
            </a:r>
          </a:p>
          <a:p>
            <a:pPr>
              <a:lnSpc>
                <a:spcPts val="1950"/>
              </a:lnSpc>
              <a:spcAft>
                <a:spcPts val="200"/>
              </a:spcAft>
              <a:defRPr sz="1300">
                <a:solidFill>
                  <a:srgbClr val="475569"/>
                </a:solidFill>
                <a:latin typeface="微软雅黑"/>
              </a:defRPr>
            </a:pPr>
            <a:r>
              <a:t>▸ 分析企业排污类型</a:t>
            </a:r>
          </a:p>
          <a:p>
            <a:pPr>
              <a:lnSpc>
                <a:spcPts val="1950"/>
              </a:lnSpc>
              <a:spcAft>
                <a:spcPts val="200"/>
              </a:spcAft>
              <a:defRPr sz="1300">
                <a:solidFill>
                  <a:srgbClr val="475569"/>
                </a:solidFill>
                <a:latin typeface="微软雅黑"/>
              </a:defRPr>
            </a:pPr>
            <a:r>
              <a:t>▸ 判断是否存在提标改造需求</a:t>
            </a:r>
          </a:p>
          <a:p>
            <a:pPr>
              <a:lnSpc>
                <a:spcPts val="1950"/>
              </a:lnSpc>
              <a:spcAft>
                <a:spcPts val="200"/>
              </a:spcAft>
              <a:defRPr sz="1300">
                <a:solidFill>
                  <a:srgbClr val="475569"/>
                </a:solidFill>
                <a:latin typeface="微软雅黑"/>
              </a:defRPr>
            </a:pPr>
            <a:r>
              <a:t>▸ 根据公开信息识别项目机会</a:t>
            </a:r>
          </a:p>
          <a:p>
            <a:pPr>
              <a:lnSpc>
                <a:spcPts val="1950"/>
              </a:lnSpc>
              <a:spcAft>
                <a:spcPts val="200"/>
              </a:spcAft>
              <a:defRPr sz="1300">
                <a:solidFill>
                  <a:srgbClr val="475569"/>
                </a:solidFill>
                <a:latin typeface="微软雅黑"/>
              </a:defRPr>
            </a:pPr>
            <a:r>
              <a:t>▸ 自动生成客户拜访话术</a:t>
            </a:r>
          </a:p>
          <a:p>
            <a:pPr>
              <a:lnSpc>
                <a:spcPts val="1950"/>
              </a:lnSpc>
              <a:spcAft>
                <a:spcPts val="200"/>
              </a:spcAft>
              <a:defRPr sz="1300">
                <a:solidFill>
                  <a:srgbClr val="475569"/>
                </a:solidFill>
                <a:latin typeface="微软雅黑"/>
              </a:defRPr>
            </a:pPr>
            <a:r>
              <a:t>▸ 自动生成定制化方案介绍</a:t>
            </a:r>
          </a:p>
        </p:txBody>
      </p:sp>
      <p:sp>
        <p:nvSpPr>
          <p:cNvPr id="6" name="Rounded Rectangle 5"/>
          <p:cNvSpPr/>
          <p:nvPr/>
        </p:nvSpPr>
        <p:spPr>
          <a:xfrm>
            <a:off x="731520" y="4114800"/>
            <a:ext cx="1463040" cy="27432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14800"/>
            <a:ext cx="146304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市政污水厂</a:t>
            </a:r>
          </a:p>
        </p:txBody>
      </p:sp>
      <p:sp>
        <p:nvSpPr>
          <p:cNvPr id="8" name="Rounded Rectangle 7"/>
          <p:cNvSpPr/>
          <p:nvPr/>
        </p:nvSpPr>
        <p:spPr>
          <a:xfrm>
            <a:off x="2377440" y="4114800"/>
            <a:ext cx="1463040" cy="27432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4114800"/>
            <a:ext cx="146304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工业园区</a:t>
            </a:r>
          </a:p>
        </p:txBody>
      </p:sp>
      <p:sp>
        <p:nvSpPr>
          <p:cNvPr id="10" name="Rounded Rectangle 9"/>
          <p:cNvSpPr/>
          <p:nvPr/>
        </p:nvSpPr>
        <p:spPr>
          <a:xfrm>
            <a:off x="4023360" y="4114800"/>
            <a:ext cx="1463040" cy="274320"/>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0" y="4114800"/>
            <a:ext cx="146304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化工企业</a:t>
            </a:r>
          </a:p>
        </p:txBody>
      </p:sp>
      <p:sp>
        <p:nvSpPr>
          <p:cNvPr id="12" name="Rounded Rectangle 11"/>
          <p:cNvSpPr/>
          <p:nvPr/>
        </p:nvSpPr>
        <p:spPr>
          <a:xfrm>
            <a:off x="731520" y="4480560"/>
            <a:ext cx="1463040" cy="274320"/>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480560"/>
            <a:ext cx="146304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印染/制药</a:t>
            </a:r>
          </a:p>
        </p:txBody>
      </p:sp>
      <p:sp>
        <p:nvSpPr>
          <p:cNvPr id="14" name="Rounded Rectangle 13"/>
          <p:cNvSpPr/>
          <p:nvPr/>
        </p:nvSpPr>
        <p:spPr>
          <a:xfrm>
            <a:off x="2377440" y="4480560"/>
            <a:ext cx="1463040" cy="27432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0" y="4480560"/>
            <a:ext cx="146304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设计院</a:t>
            </a:r>
          </a:p>
        </p:txBody>
      </p:sp>
      <p:sp>
        <p:nvSpPr>
          <p:cNvPr id="16" name="Rounded Rectangle 15"/>
          <p:cNvSpPr/>
          <p:nvPr/>
        </p:nvSpPr>
        <p:spPr>
          <a:xfrm>
            <a:off x="4023360" y="4480560"/>
            <a:ext cx="1463040" cy="27432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0" y="4480560"/>
            <a:ext cx="146304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环保工程公司</a:t>
            </a:r>
          </a:p>
        </p:txBody>
      </p:sp>
      <p:sp>
        <p:nvSpPr>
          <p:cNvPr id="18" name="TextBox 17"/>
          <p:cNvSpPr txBox="1"/>
          <p:nvPr/>
        </p:nvSpPr>
        <p:spPr>
          <a:xfrm>
            <a:off x="6217920" y="1188720"/>
            <a:ext cx="2743200" cy="365760"/>
          </a:xfrm>
          <a:prstGeom prst="rect">
            <a:avLst/>
          </a:prstGeom>
          <a:noFill/>
        </p:spPr>
        <p:txBody>
          <a:bodyPr wrap="square">
            <a:spAutoFit/>
          </a:bodyPr>
          <a:lstStyle/>
          <a:p>
            <a:pPr algn="l">
              <a:lnSpc>
                <a:spcPts val="2080"/>
              </a:lnSpc>
              <a:spcAft>
                <a:spcPts val="0"/>
              </a:spcAft>
              <a:defRPr sz="1600" b="1">
                <a:solidFill>
                  <a:srgbClr val="0F172A"/>
                </a:solidFill>
                <a:latin typeface="微软雅黑"/>
              </a:defRPr>
            </a:pPr>
            <a:r>
              <a:t>AI内容生产方向</a:t>
            </a:r>
          </a:p>
        </p:txBody>
      </p:sp>
      <p:sp>
        <p:nvSpPr>
          <p:cNvPr id="19" name="Rectangle 18"/>
          <p:cNvSpPr/>
          <p:nvPr/>
        </p:nvSpPr>
        <p:spPr>
          <a:xfrm>
            <a:off x="6217920" y="1508760"/>
            <a:ext cx="365760" cy="381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737360"/>
            <a:ext cx="5029200" cy="274320"/>
          </a:xfrm>
          <a:prstGeom prst="rect">
            <a:avLst/>
          </a:prstGeom>
          <a:noFill/>
        </p:spPr>
        <p:txBody>
          <a:bodyPr wrap="square">
            <a:spAutoFit/>
          </a:bodyPr>
          <a:lstStyle/>
          <a:p>
            <a:pPr algn="l">
              <a:lnSpc>
                <a:spcPts val="1820"/>
              </a:lnSpc>
              <a:spcAft>
                <a:spcPts val="0"/>
              </a:spcAft>
              <a:defRPr sz="1400" b="1">
                <a:solidFill>
                  <a:srgbClr val="1E293B"/>
                </a:solidFill>
                <a:latin typeface="微软雅黑"/>
              </a:defRPr>
            </a:pPr>
            <a:r>
              <a:t>技术科普类</a:t>
            </a:r>
          </a:p>
        </p:txBody>
      </p:sp>
      <p:sp>
        <p:nvSpPr>
          <p:cNvPr id="21" name="TextBox 20"/>
          <p:cNvSpPr txBox="1"/>
          <p:nvPr/>
        </p:nvSpPr>
        <p:spPr>
          <a:xfrm>
            <a:off x="6217920" y="2011680"/>
            <a:ext cx="5029200" cy="274320"/>
          </a:xfrm>
          <a:prstGeom prst="rect">
            <a:avLst/>
          </a:prstGeom>
          <a:noFill/>
        </p:spPr>
        <p:txBody>
          <a:bodyPr wrap="square">
            <a:spAutoFit/>
          </a:bodyPr>
          <a:lstStyle/>
          <a:p>
            <a:pPr algn="l">
              <a:lnSpc>
                <a:spcPts val="1560"/>
              </a:lnSpc>
              <a:spcAft>
                <a:spcPts val="0"/>
              </a:spcAft>
              <a:defRPr sz="1200" b="0">
                <a:solidFill>
                  <a:srgbClr val="64748B"/>
                </a:solidFill>
                <a:latin typeface="微软雅黑"/>
              </a:defRPr>
            </a:pPr>
            <a:r>
              <a:t>纳米气泡原理、臭氧效率、AI降本</a:t>
            </a:r>
          </a:p>
        </p:txBody>
      </p:sp>
      <p:sp>
        <p:nvSpPr>
          <p:cNvPr id="22" name="TextBox 21"/>
          <p:cNvSpPr txBox="1"/>
          <p:nvPr/>
        </p:nvSpPr>
        <p:spPr>
          <a:xfrm>
            <a:off x="6217920" y="2377439"/>
            <a:ext cx="5029200" cy="274320"/>
          </a:xfrm>
          <a:prstGeom prst="rect">
            <a:avLst/>
          </a:prstGeom>
          <a:noFill/>
        </p:spPr>
        <p:txBody>
          <a:bodyPr wrap="square">
            <a:spAutoFit/>
          </a:bodyPr>
          <a:lstStyle/>
          <a:p>
            <a:pPr algn="l">
              <a:lnSpc>
                <a:spcPts val="1820"/>
              </a:lnSpc>
              <a:spcAft>
                <a:spcPts val="0"/>
              </a:spcAft>
              <a:defRPr sz="1400" b="1">
                <a:solidFill>
                  <a:srgbClr val="1E293B"/>
                </a:solidFill>
                <a:latin typeface="微软雅黑"/>
              </a:defRPr>
            </a:pPr>
            <a:r>
              <a:t>案例展示类</a:t>
            </a:r>
          </a:p>
        </p:txBody>
      </p:sp>
      <p:sp>
        <p:nvSpPr>
          <p:cNvPr id="23" name="TextBox 22"/>
          <p:cNvSpPr txBox="1"/>
          <p:nvPr/>
        </p:nvSpPr>
        <p:spPr>
          <a:xfrm>
            <a:off x="6217920" y="2651759"/>
            <a:ext cx="5029200" cy="274320"/>
          </a:xfrm>
          <a:prstGeom prst="rect">
            <a:avLst/>
          </a:prstGeom>
          <a:noFill/>
        </p:spPr>
        <p:txBody>
          <a:bodyPr wrap="square">
            <a:spAutoFit/>
          </a:bodyPr>
          <a:lstStyle/>
          <a:p>
            <a:pPr algn="l">
              <a:lnSpc>
                <a:spcPts val="1560"/>
              </a:lnSpc>
              <a:spcAft>
                <a:spcPts val="0"/>
              </a:spcAft>
              <a:defRPr sz="1200" b="0">
                <a:solidFill>
                  <a:srgbClr val="64748B"/>
                </a:solidFill>
                <a:latin typeface="微软雅黑"/>
              </a:defRPr>
            </a:pPr>
            <a:r>
              <a:t>工业废水/节能改造案例</a:t>
            </a:r>
          </a:p>
        </p:txBody>
      </p:sp>
      <p:sp>
        <p:nvSpPr>
          <p:cNvPr id="24" name="TextBox 23"/>
          <p:cNvSpPr txBox="1"/>
          <p:nvPr/>
        </p:nvSpPr>
        <p:spPr>
          <a:xfrm>
            <a:off x="6217920" y="3017520"/>
            <a:ext cx="5029200" cy="274320"/>
          </a:xfrm>
          <a:prstGeom prst="rect">
            <a:avLst/>
          </a:prstGeom>
          <a:noFill/>
        </p:spPr>
        <p:txBody>
          <a:bodyPr wrap="square">
            <a:spAutoFit/>
          </a:bodyPr>
          <a:lstStyle/>
          <a:p>
            <a:pPr algn="l">
              <a:lnSpc>
                <a:spcPts val="1820"/>
              </a:lnSpc>
              <a:spcAft>
                <a:spcPts val="0"/>
              </a:spcAft>
              <a:defRPr sz="1400" b="1">
                <a:solidFill>
                  <a:srgbClr val="1E293B"/>
                </a:solidFill>
                <a:latin typeface="微软雅黑"/>
              </a:defRPr>
            </a:pPr>
            <a:r>
              <a:t>产品讲解类</a:t>
            </a:r>
          </a:p>
        </p:txBody>
      </p:sp>
      <p:sp>
        <p:nvSpPr>
          <p:cNvPr id="25" name="TextBox 24"/>
          <p:cNvSpPr txBox="1"/>
          <p:nvPr/>
        </p:nvSpPr>
        <p:spPr>
          <a:xfrm>
            <a:off x="6217920" y="3291840"/>
            <a:ext cx="5029200" cy="274320"/>
          </a:xfrm>
          <a:prstGeom prst="rect">
            <a:avLst/>
          </a:prstGeom>
          <a:noFill/>
        </p:spPr>
        <p:txBody>
          <a:bodyPr wrap="square">
            <a:spAutoFit/>
          </a:bodyPr>
          <a:lstStyle/>
          <a:p>
            <a:pPr algn="l">
              <a:lnSpc>
                <a:spcPts val="1560"/>
              </a:lnSpc>
              <a:spcAft>
                <a:spcPts val="0"/>
              </a:spcAft>
              <a:defRPr sz="1200" b="0">
                <a:solidFill>
                  <a:srgbClr val="64748B"/>
                </a:solidFill>
                <a:latin typeface="微软雅黑"/>
              </a:defRPr>
            </a:pPr>
            <a:r>
              <a:t>智能设备、云端运维平台</a:t>
            </a:r>
          </a:p>
        </p:txBody>
      </p:sp>
      <p:sp>
        <p:nvSpPr>
          <p:cNvPr id="26" name="TextBox 25"/>
          <p:cNvSpPr txBox="1"/>
          <p:nvPr/>
        </p:nvSpPr>
        <p:spPr>
          <a:xfrm>
            <a:off x="6217920" y="3657599"/>
            <a:ext cx="5029200" cy="274320"/>
          </a:xfrm>
          <a:prstGeom prst="rect">
            <a:avLst/>
          </a:prstGeom>
          <a:noFill/>
        </p:spPr>
        <p:txBody>
          <a:bodyPr wrap="square">
            <a:spAutoFit/>
          </a:bodyPr>
          <a:lstStyle/>
          <a:p>
            <a:pPr algn="l">
              <a:lnSpc>
                <a:spcPts val="1820"/>
              </a:lnSpc>
              <a:spcAft>
                <a:spcPts val="0"/>
              </a:spcAft>
              <a:defRPr sz="1400" b="1">
                <a:solidFill>
                  <a:srgbClr val="1E293B"/>
                </a:solidFill>
                <a:latin typeface="微软雅黑"/>
              </a:defRPr>
            </a:pPr>
            <a:r>
              <a:t>行业观点类</a:t>
            </a:r>
          </a:p>
        </p:txBody>
      </p:sp>
      <p:sp>
        <p:nvSpPr>
          <p:cNvPr id="27" name="TextBox 26"/>
          <p:cNvSpPr txBox="1"/>
          <p:nvPr/>
        </p:nvSpPr>
        <p:spPr>
          <a:xfrm>
            <a:off x="6217920" y="3931919"/>
            <a:ext cx="5029200" cy="274320"/>
          </a:xfrm>
          <a:prstGeom prst="rect">
            <a:avLst/>
          </a:prstGeom>
          <a:noFill/>
        </p:spPr>
        <p:txBody>
          <a:bodyPr wrap="square">
            <a:spAutoFit/>
          </a:bodyPr>
          <a:lstStyle/>
          <a:p>
            <a:pPr algn="l">
              <a:lnSpc>
                <a:spcPts val="1560"/>
              </a:lnSpc>
              <a:spcAft>
                <a:spcPts val="0"/>
              </a:spcAft>
              <a:defRPr sz="1200" b="0">
                <a:solidFill>
                  <a:srgbClr val="64748B"/>
                </a:solidFill>
                <a:latin typeface="微软雅黑"/>
              </a:defRPr>
            </a:pPr>
            <a:r>
              <a:t>智能化趋势、AI决策</a:t>
            </a:r>
          </a:p>
        </p:txBody>
      </p:sp>
      <p:sp>
        <p:nvSpPr>
          <p:cNvPr id="28" name="TextBox 27"/>
          <p:cNvSpPr txBox="1"/>
          <p:nvPr/>
        </p:nvSpPr>
        <p:spPr>
          <a:xfrm>
            <a:off x="6217920" y="4480560"/>
            <a:ext cx="5029200" cy="457200"/>
          </a:xfrm>
          <a:prstGeom prst="rect">
            <a:avLst/>
          </a:prstGeom>
          <a:noFill/>
        </p:spPr>
        <p:txBody>
          <a:bodyPr wrap="square">
            <a:spAutoFit/>
          </a:bodyPr>
          <a:lstStyle/>
          <a:p>
            <a:pPr algn="l">
              <a:lnSpc>
                <a:spcPts val="1690"/>
              </a:lnSpc>
              <a:spcAft>
                <a:spcPts val="0"/>
              </a:spcAft>
              <a:defRPr sz="1300" b="0">
                <a:solidFill>
                  <a:srgbClr val="475569"/>
                </a:solidFill>
                <a:latin typeface="微软雅黑"/>
              </a:defRPr>
            </a:pPr>
            <a:r>
              <a:t>环保企业不只是卖设备，而是卖长期稳定达标和低成本运行能力。</a:t>
            </a:r>
          </a:p>
        </p:txBody>
      </p:sp>
      <p:sp>
        <p:nvSpPr>
          <p:cNvPr id="29" name="TextBox 28"/>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AI数字展厅和3D可视化（分阶段）</a:t>
            </a:r>
          </a:p>
        </p:txBody>
      </p:sp>
      <p:sp>
        <p:nvSpPr>
          <p:cNvPr id="3" name="Rounded Rectangle 2"/>
          <p:cNvSpPr/>
          <p:nvPr/>
        </p:nvSpPr>
        <p:spPr>
          <a:xfrm>
            <a:off x="731520" y="1280160"/>
            <a:ext cx="3383280" cy="320040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280160"/>
            <a:ext cx="338328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1371600" cy="274320"/>
          </a:xfrm>
          <a:prstGeom prst="rect">
            <a:avLst/>
          </a:prstGeom>
          <a:noFill/>
        </p:spPr>
        <p:txBody>
          <a:bodyPr wrap="square">
            <a:spAutoFit/>
          </a:bodyPr>
          <a:lstStyle/>
          <a:p>
            <a:pPr algn="l">
              <a:lnSpc>
                <a:spcPts val="1560"/>
              </a:lnSpc>
              <a:spcAft>
                <a:spcPts val="0"/>
              </a:spcAft>
              <a:defRPr sz="1200" b="1">
                <a:solidFill>
                  <a:srgbClr val="10B981"/>
                </a:solidFill>
                <a:latin typeface="微软雅黑"/>
              </a:defRPr>
            </a:pPr>
            <a:r>
              <a:t>初级版</a:t>
            </a:r>
          </a:p>
        </p:txBody>
      </p:sp>
      <p:sp>
        <p:nvSpPr>
          <p:cNvPr id="6" name="TextBox 5"/>
          <p:cNvSpPr txBox="1"/>
          <p:nvPr/>
        </p:nvSpPr>
        <p:spPr>
          <a:xfrm>
            <a:off x="914400" y="1783080"/>
            <a:ext cx="301752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展示与宣传</a:t>
            </a:r>
          </a:p>
        </p:txBody>
      </p:sp>
      <p:sp>
        <p:nvSpPr>
          <p:cNvPr id="7" name="TextBox 6"/>
          <p:cNvSpPr txBox="1"/>
          <p:nvPr/>
        </p:nvSpPr>
        <p:spPr>
          <a:xfrm>
            <a:off x="914400" y="2286000"/>
            <a:ext cx="3017520" cy="18288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设备三维展示</a:t>
            </a:r>
          </a:p>
          <a:p>
            <a:pPr>
              <a:lnSpc>
                <a:spcPts val="1950"/>
              </a:lnSpc>
              <a:spcAft>
                <a:spcPts val="200"/>
              </a:spcAft>
              <a:defRPr sz="1300">
                <a:solidFill>
                  <a:srgbClr val="475569"/>
                </a:solidFill>
                <a:latin typeface="微软雅黑"/>
              </a:defRPr>
            </a:pPr>
            <a:r>
              <a:t>• 工艺流程动画</a:t>
            </a:r>
          </a:p>
          <a:p>
            <a:pPr>
              <a:lnSpc>
                <a:spcPts val="1950"/>
              </a:lnSpc>
              <a:spcAft>
                <a:spcPts val="200"/>
              </a:spcAft>
              <a:defRPr sz="1300">
                <a:solidFill>
                  <a:srgbClr val="475569"/>
                </a:solidFill>
                <a:latin typeface="微软雅黑"/>
              </a:defRPr>
            </a:pPr>
            <a:r>
              <a:t>• 臭氧/曝气/催化氧化可视化</a:t>
            </a:r>
          </a:p>
          <a:p>
            <a:pPr>
              <a:lnSpc>
                <a:spcPts val="1950"/>
              </a:lnSpc>
              <a:spcAft>
                <a:spcPts val="200"/>
              </a:spcAft>
              <a:defRPr sz="1300">
                <a:solidFill>
                  <a:srgbClr val="475569"/>
                </a:solidFill>
                <a:latin typeface="微软雅黑"/>
              </a:defRPr>
            </a:pPr>
            <a:r>
              <a:t>• 用于销售演示和视频宣传</a:t>
            </a:r>
          </a:p>
        </p:txBody>
      </p:sp>
      <p:sp>
        <p:nvSpPr>
          <p:cNvPr id="8" name="Rounded Rectangle 7"/>
          <p:cNvSpPr/>
          <p:nvPr/>
        </p:nvSpPr>
        <p:spPr>
          <a:xfrm>
            <a:off x="4434840" y="1280160"/>
            <a:ext cx="3383280" cy="320040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34840" y="1280160"/>
            <a:ext cx="338328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463040"/>
            <a:ext cx="1371600" cy="274320"/>
          </a:xfrm>
          <a:prstGeom prst="rect">
            <a:avLst/>
          </a:prstGeom>
          <a:noFill/>
        </p:spPr>
        <p:txBody>
          <a:bodyPr wrap="square">
            <a:spAutoFit/>
          </a:bodyPr>
          <a:lstStyle/>
          <a:p>
            <a:pPr algn="l">
              <a:lnSpc>
                <a:spcPts val="1560"/>
              </a:lnSpc>
              <a:spcAft>
                <a:spcPts val="0"/>
              </a:spcAft>
              <a:defRPr sz="1200" b="1">
                <a:solidFill>
                  <a:srgbClr val="F59E0B"/>
                </a:solidFill>
                <a:latin typeface="微软雅黑"/>
              </a:defRPr>
            </a:pPr>
            <a:r>
              <a:t>中级版</a:t>
            </a:r>
          </a:p>
        </p:txBody>
      </p:sp>
      <p:sp>
        <p:nvSpPr>
          <p:cNvPr id="11" name="TextBox 10"/>
          <p:cNvSpPr txBox="1"/>
          <p:nvPr/>
        </p:nvSpPr>
        <p:spPr>
          <a:xfrm>
            <a:off x="4617720" y="1783080"/>
            <a:ext cx="301752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数据接入</a:t>
            </a:r>
          </a:p>
        </p:txBody>
      </p:sp>
      <p:sp>
        <p:nvSpPr>
          <p:cNvPr id="12" name="TextBox 11"/>
          <p:cNvSpPr txBox="1"/>
          <p:nvPr/>
        </p:nvSpPr>
        <p:spPr>
          <a:xfrm>
            <a:off x="4617720" y="2286000"/>
            <a:ext cx="3017520" cy="18288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接入真实设备运行数据</a:t>
            </a:r>
          </a:p>
          <a:p>
            <a:pPr>
              <a:lnSpc>
                <a:spcPts val="1950"/>
              </a:lnSpc>
              <a:spcAft>
                <a:spcPts val="200"/>
              </a:spcAft>
              <a:defRPr sz="1300">
                <a:solidFill>
                  <a:srgbClr val="475569"/>
                </a:solidFill>
                <a:latin typeface="微软雅黑"/>
              </a:defRPr>
            </a:pPr>
            <a:r>
              <a:t>• 展示水质、流量、能耗</a:t>
            </a:r>
          </a:p>
          <a:p>
            <a:pPr>
              <a:lnSpc>
                <a:spcPts val="1950"/>
              </a:lnSpc>
              <a:spcAft>
                <a:spcPts val="200"/>
              </a:spcAft>
              <a:defRPr sz="1300">
                <a:solidFill>
                  <a:srgbClr val="475569"/>
                </a:solidFill>
                <a:latin typeface="微软雅黑"/>
              </a:defRPr>
            </a:pPr>
            <a:r>
              <a:t>• 展示臭氧投加量</a:t>
            </a:r>
          </a:p>
          <a:p>
            <a:pPr>
              <a:lnSpc>
                <a:spcPts val="1950"/>
              </a:lnSpc>
              <a:spcAft>
                <a:spcPts val="200"/>
              </a:spcAft>
              <a:defRPr sz="1300">
                <a:solidFill>
                  <a:srgbClr val="475569"/>
                </a:solidFill>
                <a:latin typeface="微软雅黑"/>
              </a:defRPr>
            </a:pPr>
            <a:r>
              <a:t>• 支持远程查看运行状态</a:t>
            </a:r>
          </a:p>
        </p:txBody>
      </p:sp>
      <p:sp>
        <p:nvSpPr>
          <p:cNvPr id="13" name="Rounded Rectangle 12"/>
          <p:cNvSpPr/>
          <p:nvPr/>
        </p:nvSpPr>
        <p:spPr>
          <a:xfrm>
            <a:off x="8138160" y="1280160"/>
            <a:ext cx="3383280" cy="320040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280160"/>
            <a:ext cx="3383280"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463040"/>
            <a:ext cx="1371600" cy="274320"/>
          </a:xfrm>
          <a:prstGeom prst="rect">
            <a:avLst/>
          </a:prstGeom>
          <a:noFill/>
        </p:spPr>
        <p:txBody>
          <a:bodyPr wrap="square">
            <a:spAutoFit/>
          </a:bodyPr>
          <a:lstStyle/>
          <a:p>
            <a:pPr algn="l">
              <a:lnSpc>
                <a:spcPts val="1560"/>
              </a:lnSpc>
              <a:spcAft>
                <a:spcPts val="0"/>
              </a:spcAft>
              <a:defRPr sz="1200" b="1">
                <a:solidFill>
                  <a:srgbClr val="8B5CF6"/>
                </a:solidFill>
                <a:latin typeface="微软雅黑"/>
              </a:defRPr>
            </a:pPr>
            <a:r>
              <a:t>高级版</a:t>
            </a:r>
          </a:p>
        </p:txBody>
      </p:sp>
      <p:sp>
        <p:nvSpPr>
          <p:cNvPr id="16" name="TextBox 15"/>
          <p:cNvSpPr txBox="1"/>
          <p:nvPr/>
        </p:nvSpPr>
        <p:spPr>
          <a:xfrm>
            <a:off x="8321040" y="1783080"/>
            <a:ext cx="301752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数字孪生</a:t>
            </a:r>
          </a:p>
        </p:txBody>
      </p:sp>
      <p:sp>
        <p:nvSpPr>
          <p:cNvPr id="17" name="TextBox 16"/>
          <p:cNvSpPr txBox="1"/>
          <p:nvPr/>
        </p:nvSpPr>
        <p:spPr>
          <a:xfrm>
            <a:off x="8321040" y="2286000"/>
            <a:ext cx="3017520" cy="18288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数字孪生污水站</a:t>
            </a:r>
          </a:p>
          <a:p>
            <a:pPr>
              <a:lnSpc>
                <a:spcPts val="1950"/>
              </a:lnSpc>
              <a:spcAft>
                <a:spcPts val="200"/>
              </a:spcAft>
              <a:defRPr sz="1300">
                <a:solidFill>
                  <a:srgbClr val="475569"/>
                </a:solidFill>
                <a:latin typeface="微软雅黑"/>
              </a:defRPr>
            </a:pPr>
            <a:r>
              <a:t>• 模拟不同进水水质效果</a:t>
            </a:r>
          </a:p>
          <a:p>
            <a:pPr>
              <a:lnSpc>
                <a:spcPts val="1950"/>
              </a:lnSpc>
              <a:spcAft>
                <a:spcPts val="200"/>
              </a:spcAft>
              <a:defRPr sz="1300">
                <a:solidFill>
                  <a:srgbClr val="475569"/>
                </a:solidFill>
                <a:latin typeface="微软雅黑"/>
              </a:defRPr>
            </a:pPr>
            <a:r>
              <a:t>• 预测能耗和出水指标</a:t>
            </a:r>
          </a:p>
          <a:p>
            <a:pPr>
              <a:lnSpc>
                <a:spcPts val="1950"/>
              </a:lnSpc>
              <a:spcAft>
                <a:spcPts val="200"/>
              </a:spcAft>
              <a:defRPr sz="1300">
                <a:solidFill>
                  <a:srgbClr val="475569"/>
                </a:solidFill>
                <a:latin typeface="微软雅黑"/>
              </a:defRPr>
            </a:pPr>
            <a:r>
              <a:t>• 辅助客户做方案决策</a:t>
            </a:r>
          </a:p>
        </p:txBody>
      </p:sp>
      <p:sp>
        <p:nvSpPr>
          <p:cNvPr id="18" name="Rounded Rectangle 17"/>
          <p:cNvSpPr/>
          <p:nvPr/>
        </p:nvSpPr>
        <p:spPr>
          <a:xfrm>
            <a:off x="731520" y="4846320"/>
            <a:ext cx="10698480" cy="1097280"/>
          </a:xfrm>
          <a:prstGeom prst="roundRect">
            <a:avLst>
              <a:gd name="adj" fmla="val 4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029200"/>
            <a:ext cx="10058400" cy="640080"/>
          </a:xfrm>
          <a:prstGeom prst="rect">
            <a:avLst/>
          </a:prstGeom>
          <a:noFill/>
        </p:spPr>
        <p:txBody>
          <a:bodyPr wrap="square">
            <a:spAutoFit/>
          </a:bodyPr>
          <a:lstStyle/>
          <a:p>
            <a:pPr algn="l">
              <a:lnSpc>
                <a:spcPts val="1950"/>
              </a:lnSpc>
              <a:spcAft>
                <a:spcPts val="0"/>
              </a:spcAft>
              <a:defRPr sz="1500" b="1">
                <a:solidFill>
                  <a:srgbClr val="FFFFFF"/>
                </a:solidFill>
                <a:latin typeface="微软雅黑"/>
              </a:defRPr>
            </a:pPr>
            <a:r>
              <a:t>⚠️  短期建议先做初级版和中级版，不要一开始就做重型数字孪生，成本高、周期长。</a:t>
            </a:r>
          </a:p>
        </p:txBody>
      </p:sp>
      <p:sp>
        <p:nvSpPr>
          <p:cNvPr id="20" name="TextBox 19"/>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194560"/>
            <a:ext cx="10058400" cy="365760"/>
          </a:xfrm>
          <a:prstGeom prst="rect">
            <a:avLst/>
          </a:prstGeom>
          <a:noFill/>
        </p:spPr>
        <p:txBody>
          <a:bodyPr wrap="square">
            <a:spAutoFit/>
          </a:bodyPr>
          <a:lstStyle/>
          <a:p>
            <a:pPr algn="ctr">
              <a:lnSpc>
                <a:spcPts val="1690"/>
              </a:lnSpc>
              <a:spcAft>
                <a:spcPts val="0"/>
              </a:spcAft>
              <a:defRPr sz="1300" b="1">
                <a:solidFill>
                  <a:srgbClr val="F59E0B"/>
                </a:solidFill>
                <a:latin typeface="微软雅黑"/>
              </a:defRPr>
            </a:pPr>
            <a:r>
              <a:t>板块三</a:t>
            </a:r>
          </a:p>
        </p:txBody>
      </p:sp>
      <p:sp>
        <p:nvSpPr>
          <p:cNvPr id="3" name="TextBox 2"/>
          <p:cNvSpPr txBox="1"/>
          <p:nvPr/>
        </p:nvSpPr>
        <p:spPr>
          <a:xfrm>
            <a:off x="914400" y="2651760"/>
            <a:ext cx="10058400" cy="731520"/>
          </a:xfrm>
          <a:prstGeom prst="rect">
            <a:avLst/>
          </a:prstGeom>
          <a:noFill/>
        </p:spPr>
        <p:txBody>
          <a:bodyPr wrap="square">
            <a:spAutoFit/>
          </a:bodyPr>
          <a:lstStyle/>
          <a:p>
            <a:pPr algn="ctr">
              <a:lnSpc>
                <a:spcPts val="5200"/>
              </a:lnSpc>
              <a:spcAft>
                <a:spcPts val="0"/>
              </a:spcAft>
              <a:defRPr sz="4000" b="1">
                <a:solidFill>
                  <a:srgbClr val="FFFFFF"/>
                </a:solidFill>
                <a:latin typeface="微软雅黑"/>
              </a:defRPr>
            </a:pPr>
            <a:r>
              <a:t>工程项目端 AI 赋能</a:t>
            </a:r>
          </a:p>
        </p:txBody>
      </p:sp>
      <p:sp>
        <p:nvSpPr>
          <p:cNvPr id="4" name="TextBox 3"/>
          <p:cNvSpPr txBox="1"/>
          <p:nvPr/>
        </p:nvSpPr>
        <p:spPr>
          <a:xfrm>
            <a:off x="914400" y="3566160"/>
            <a:ext cx="10058400" cy="365760"/>
          </a:xfrm>
          <a:prstGeom prst="rect">
            <a:avLst/>
          </a:prstGeom>
          <a:noFill/>
        </p:spPr>
        <p:txBody>
          <a:bodyPr wrap="square">
            <a:spAutoFit/>
          </a:bodyPr>
          <a:lstStyle/>
          <a:p>
            <a:pPr algn="ctr">
              <a:lnSpc>
                <a:spcPts val="2080"/>
              </a:lnSpc>
              <a:spcAft>
                <a:spcPts val="0"/>
              </a:spcAft>
              <a:defRPr sz="1600" b="0">
                <a:solidFill>
                  <a:srgbClr val="94A3B8"/>
                </a:solidFill>
                <a:latin typeface="微软雅黑"/>
              </a:defRPr>
            </a:pPr>
            <a:r>
              <a:t>工艺方案设计  ·  AI诊断系统  ·  投标文件生成</a:t>
            </a:r>
          </a:p>
        </p:txBody>
      </p:sp>
      <p:sp>
        <p:nvSpPr>
          <p:cNvPr id="5" name="TextBox 4"/>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AI辅助工艺方案设计</a:t>
            </a:r>
          </a:p>
        </p:txBody>
      </p:sp>
      <p:sp>
        <p:nvSpPr>
          <p:cNvPr id="3" name="TextBox 2"/>
          <p:cNvSpPr txBox="1"/>
          <p:nvPr/>
        </p:nvSpPr>
        <p:spPr>
          <a:xfrm>
            <a:off x="731520" y="1188720"/>
            <a:ext cx="2743200" cy="365760"/>
          </a:xfrm>
          <a:prstGeom prst="rect">
            <a:avLst/>
          </a:prstGeom>
          <a:noFill/>
        </p:spPr>
        <p:txBody>
          <a:bodyPr wrap="square">
            <a:spAutoFit/>
          </a:bodyPr>
          <a:lstStyle/>
          <a:p>
            <a:pPr algn="l">
              <a:lnSpc>
                <a:spcPts val="2080"/>
              </a:lnSpc>
              <a:spcAft>
                <a:spcPts val="0"/>
              </a:spcAft>
              <a:defRPr sz="1600" b="1">
                <a:solidFill>
                  <a:srgbClr val="0F172A"/>
                </a:solidFill>
                <a:latin typeface="微软雅黑"/>
              </a:defRPr>
            </a:pPr>
            <a:r>
              <a:t>输入数据</a:t>
            </a:r>
          </a:p>
        </p:txBody>
      </p:sp>
      <p:sp>
        <p:nvSpPr>
          <p:cNvPr id="4" name="Rectangle 3"/>
          <p:cNvSpPr/>
          <p:nvPr/>
        </p:nvSpPr>
        <p:spPr>
          <a:xfrm>
            <a:off x="731520" y="1508760"/>
            <a:ext cx="365760" cy="381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737360"/>
            <a:ext cx="1051560" cy="27432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3736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水量</a:t>
            </a:r>
          </a:p>
        </p:txBody>
      </p:sp>
      <p:sp>
        <p:nvSpPr>
          <p:cNvPr id="7" name="Rounded Rectangle 6"/>
          <p:cNvSpPr/>
          <p:nvPr/>
        </p:nvSpPr>
        <p:spPr>
          <a:xfrm>
            <a:off x="1920240" y="1737360"/>
            <a:ext cx="1051560" cy="27432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40" y="173736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COD</a:t>
            </a:r>
          </a:p>
        </p:txBody>
      </p:sp>
      <p:sp>
        <p:nvSpPr>
          <p:cNvPr id="9" name="Rounded Rectangle 8"/>
          <p:cNvSpPr/>
          <p:nvPr/>
        </p:nvSpPr>
        <p:spPr>
          <a:xfrm>
            <a:off x="3108960" y="1737360"/>
            <a:ext cx="1051560" cy="27432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173736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BOD</a:t>
            </a:r>
          </a:p>
        </p:txBody>
      </p:sp>
      <p:sp>
        <p:nvSpPr>
          <p:cNvPr id="11" name="Rounded Rectangle 10"/>
          <p:cNvSpPr/>
          <p:nvPr/>
        </p:nvSpPr>
        <p:spPr>
          <a:xfrm>
            <a:off x="4297680" y="1737360"/>
            <a:ext cx="1051560" cy="274320"/>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73736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氨氮</a:t>
            </a:r>
          </a:p>
        </p:txBody>
      </p:sp>
      <p:sp>
        <p:nvSpPr>
          <p:cNvPr id="13" name="Rounded Rectangle 12"/>
          <p:cNvSpPr/>
          <p:nvPr/>
        </p:nvSpPr>
        <p:spPr>
          <a:xfrm>
            <a:off x="731520" y="2103120"/>
            <a:ext cx="1051560" cy="274320"/>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10312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总氮</a:t>
            </a:r>
          </a:p>
        </p:txBody>
      </p:sp>
      <p:sp>
        <p:nvSpPr>
          <p:cNvPr id="15" name="Rounded Rectangle 14"/>
          <p:cNvSpPr/>
          <p:nvPr/>
        </p:nvSpPr>
        <p:spPr>
          <a:xfrm>
            <a:off x="1920240" y="2103120"/>
            <a:ext cx="1051560" cy="274320"/>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20240" y="210312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总磷</a:t>
            </a:r>
          </a:p>
        </p:txBody>
      </p:sp>
      <p:sp>
        <p:nvSpPr>
          <p:cNvPr id="17" name="Rounded Rectangle 16"/>
          <p:cNvSpPr/>
          <p:nvPr/>
        </p:nvSpPr>
        <p:spPr>
          <a:xfrm>
            <a:off x="3108960" y="2103120"/>
            <a:ext cx="1051560" cy="27432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08960" y="210312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色度</a:t>
            </a:r>
          </a:p>
        </p:txBody>
      </p:sp>
      <p:sp>
        <p:nvSpPr>
          <p:cNvPr id="19" name="Rounded Rectangle 18"/>
          <p:cNvSpPr/>
          <p:nvPr/>
        </p:nvSpPr>
        <p:spPr>
          <a:xfrm>
            <a:off x="4297680" y="2103120"/>
            <a:ext cx="1051560" cy="27432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80" y="210312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盐分</a:t>
            </a:r>
          </a:p>
        </p:txBody>
      </p:sp>
      <p:sp>
        <p:nvSpPr>
          <p:cNvPr id="21" name="Rounded Rectangle 20"/>
          <p:cNvSpPr/>
          <p:nvPr/>
        </p:nvSpPr>
        <p:spPr>
          <a:xfrm>
            <a:off x="731520" y="2468880"/>
            <a:ext cx="1051560" cy="27432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246888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pH</a:t>
            </a:r>
          </a:p>
        </p:txBody>
      </p:sp>
      <p:sp>
        <p:nvSpPr>
          <p:cNvPr id="23" name="Rounded Rectangle 22"/>
          <p:cNvSpPr/>
          <p:nvPr/>
        </p:nvSpPr>
        <p:spPr>
          <a:xfrm>
            <a:off x="1920240" y="2468880"/>
            <a:ext cx="1051560" cy="27432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20240" y="246888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原有工艺</a:t>
            </a:r>
          </a:p>
        </p:txBody>
      </p:sp>
      <p:sp>
        <p:nvSpPr>
          <p:cNvPr id="25" name="Rounded Rectangle 24"/>
          <p:cNvSpPr/>
          <p:nvPr/>
        </p:nvSpPr>
        <p:spPr>
          <a:xfrm>
            <a:off x="3108960" y="2468880"/>
            <a:ext cx="1051560" cy="27432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0" y="246888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出水标准</a:t>
            </a:r>
          </a:p>
        </p:txBody>
      </p:sp>
      <p:sp>
        <p:nvSpPr>
          <p:cNvPr id="27" name="Rounded Rectangle 26"/>
          <p:cNvSpPr/>
          <p:nvPr/>
        </p:nvSpPr>
        <p:spPr>
          <a:xfrm>
            <a:off x="4297680" y="2468880"/>
            <a:ext cx="1051560" cy="274320"/>
          </a:xfrm>
          <a:prstGeom prst="roundRect">
            <a:avLst>
              <a:gd name="adj" fmla="val 4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97680" y="246888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场地限制</a:t>
            </a:r>
          </a:p>
        </p:txBody>
      </p:sp>
      <p:sp>
        <p:nvSpPr>
          <p:cNvPr id="29" name="Rounded Rectangle 28"/>
          <p:cNvSpPr/>
          <p:nvPr/>
        </p:nvSpPr>
        <p:spPr>
          <a:xfrm>
            <a:off x="731520" y="2834640"/>
            <a:ext cx="1051560" cy="274320"/>
          </a:xfrm>
          <a:prstGeom prst="roundRect">
            <a:avLst>
              <a:gd name="adj" fmla="val 4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834640"/>
            <a:ext cx="105156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客户预算</a:t>
            </a:r>
          </a:p>
        </p:txBody>
      </p:sp>
      <p:sp>
        <p:nvSpPr>
          <p:cNvPr id="31" name="TextBox 30"/>
          <p:cNvSpPr txBox="1"/>
          <p:nvPr/>
        </p:nvSpPr>
        <p:spPr>
          <a:xfrm>
            <a:off x="5486400" y="2286000"/>
            <a:ext cx="731520" cy="457200"/>
          </a:xfrm>
          <a:prstGeom prst="rect">
            <a:avLst/>
          </a:prstGeom>
          <a:noFill/>
        </p:spPr>
        <p:txBody>
          <a:bodyPr wrap="square">
            <a:spAutoFit/>
          </a:bodyPr>
          <a:lstStyle/>
          <a:p>
            <a:pPr algn="ctr">
              <a:lnSpc>
                <a:spcPts val="4680"/>
              </a:lnSpc>
              <a:spcAft>
                <a:spcPts val="0"/>
              </a:spcAft>
              <a:defRPr sz="3600" b="1">
                <a:solidFill>
                  <a:srgbClr val="0EA5E9"/>
                </a:solidFill>
                <a:latin typeface="微软雅黑"/>
              </a:defRPr>
            </a:pPr>
            <a:r>
              <a:t>→</a:t>
            </a:r>
          </a:p>
        </p:txBody>
      </p:sp>
      <p:sp>
        <p:nvSpPr>
          <p:cNvPr id="32" name="TextBox 31"/>
          <p:cNvSpPr txBox="1"/>
          <p:nvPr/>
        </p:nvSpPr>
        <p:spPr>
          <a:xfrm>
            <a:off x="6217920" y="1188720"/>
            <a:ext cx="2743200" cy="365760"/>
          </a:xfrm>
          <a:prstGeom prst="rect">
            <a:avLst/>
          </a:prstGeom>
          <a:noFill/>
        </p:spPr>
        <p:txBody>
          <a:bodyPr wrap="square">
            <a:spAutoFit/>
          </a:bodyPr>
          <a:lstStyle/>
          <a:p>
            <a:pPr algn="l">
              <a:lnSpc>
                <a:spcPts val="2080"/>
              </a:lnSpc>
              <a:spcAft>
                <a:spcPts val="0"/>
              </a:spcAft>
              <a:defRPr sz="1600" b="1">
                <a:solidFill>
                  <a:srgbClr val="0F172A"/>
                </a:solidFill>
                <a:latin typeface="微软雅黑"/>
              </a:defRPr>
            </a:pPr>
            <a:r>
              <a:t>AI自动输出</a:t>
            </a:r>
          </a:p>
        </p:txBody>
      </p:sp>
      <p:sp>
        <p:nvSpPr>
          <p:cNvPr id="33" name="Rectangle 32"/>
          <p:cNvSpPr/>
          <p:nvPr/>
        </p:nvSpPr>
        <p:spPr>
          <a:xfrm>
            <a:off x="6217920" y="1508760"/>
            <a:ext cx="365760" cy="381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0" y="1645920"/>
            <a:ext cx="5029200" cy="27432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推荐工艺路线</a:t>
            </a:r>
          </a:p>
          <a:p>
            <a:pPr>
              <a:lnSpc>
                <a:spcPts val="1950"/>
              </a:lnSpc>
              <a:spcAft>
                <a:spcPts val="200"/>
              </a:spcAft>
              <a:defRPr sz="1300">
                <a:solidFill>
                  <a:srgbClr val="475569"/>
                </a:solidFill>
                <a:latin typeface="微软雅黑"/>
              </a:defRPr>
            </a:pPr>
            <a:r>
              <a:t>▸ 设备选型</a:t>
            </a:r>
          </a:p>
          <a:p>
            <a:pPr>
              <a:lnSpc>
                <a:spcPts val="1950"/>
              </a:lnSpc>
              <a:spcAft>
                <a:spcPts val="200"/>
              </a:spcAft>
              <a:defRPr sz="1300">
                <a:solidFill>
                  <a:srgbClr val="475569"/>
                </a:solidFill>
                <a:latin typeface="微软雅黑"/>
              </a:defRPr>
            </a:pPr>
            <a:r>
              <a:t>▸ 臭氧投加量初步范围</a:t>
            </a:r>
          </a:p>
          <a:p>
            <a:pPr>
              <a:lnSpc>
                <a:spcPts val="1950"/>
              </a:lnSpc>
              <a:spcAft>
                <a:spcPts val="200"/>
              </a:spcAft>
              <a:defRPr sz="1300">
                <a:solidFill>
                  <a:srgbClr val="475569"/>
                </a:solidFill>
                <a:latin typeface="微软雅黑"/>
              </a:defRPr>
            </a:pPr>
            <a:r>
              <a:t>▸ 曝气系统配置</a:t>
            </a:r>
          </a:p>
          <a:p>
            <a:pPr>
              <a:lnSpc>
                <a:spcPts val="1950"/>
              </a:lnSpc>
              <a:spcAft>
                <a:spcPts val="200"/>
              </a:spcAft>
              <a:defRPr sz="1300">
                <a:solidFill>
                  <a:srgbClr val="475569"/>
                </a:solidFill>
                <a:latin typeface="微软雅黑"/>
              </a:defRPr>
            </a:pPr>
            <a:r>
              <a:t>▸ 电耗/药剂成本估算</a:t>
            </a:r>
          </a:p>
          <a:p>
            <a:pPr>
              <a:lnSpc>
                <a:spcPts val="1950"/>
              </a:lnSpc>
              <a:spcAft>
                <a:spcPts val="200"/>
              </a:spcAft>
              <a:defRPr sz="1300">
                <a:solidFill>
                  <a:srgbClr val="475569"/>
                </a:solidFill>
                <a:latin typeface="微软雅黑"/>
              </a:defRPr>
            </a:pPr>
            <a:r>
              <a:t>▸ 改造投资估算</a:t>
            </a:r>
          </a:p>
          <a:p>
            <a:pPr>
              <a:lnSpc>
                <a:spcPts val="1950"/>
              </a:lnSpc>
              <a:spcAft>
                <a:spcPts val="200"/>
              </a:spcAft>
              <a:defRPr sz="1300">
                <a:solidFill>
                  <a:srgbClr val="475569"/>
                </a:solidFill>
                <a:latin typeface="微软雅黑"/>
              </a:defRPr>
            </a:pPr>
            <a:r>
              <a:t>▸ 运行成本测算</a:t>
            </a:r>
          </a:p>
          <a:p>
            <a:pPr>
              <a:lnSpc>
                <a:spcPts val="1950"/>
              </a:lnSpc>
              <a:spcAft>
                <a:spcPts val="200"/>
              </a:spcAft>
              <a:defRPr sz="1300">
                <a:solidFill>
                  <a:srgbClr val="475569"/>
                </a:solidFill>
                <a:latin typeface="微软雅黑"/>
              </a:defRPr>
            </a:pPr>
            <a:r>
              <a:t>▸ 技术方案初稿</a:t>
            </a:r>
          </a:p>
        </p:txBody>
      </p:sp>
      <p:sp>
        <p:nvSpPr>
          <p:cNvPr id="35" name="Rounded Rectangle 34"/>
          <p:cNvSpPr/>
          <p:nvPr/>
        </p:nvSpPr>
        <p:spPr>
          <a:xfrm>
            <a:off x="731520" y="4846320"/>
            <a:ext cx="10698480" cy="1371600"/>
          </a:xfrm>
          <a:prstGeom prst="roundRect">
            <a:avLst>
              <a:gd name="adj" fmla="val 4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074920"/>
            <a:ext cx="10058400" cy="365760"/>
          </a:xfrm>
          <a:prstGeom prst="rect">
            <a:avLst/>
          </a:prstGeom>
          <a:noFill/>
        </p:spPr>
        <p:txBody>
          <a:bodyPr wrap="square">
            <a:spAutoFit/>
          </a:bodyPr>
          <a:lstStyle/>
          <a:p>
            <a:pPr algn="l">
              <a:lnSpc>
                <a:spcPts val="1950"/>
              </a:lnSpc>
              <a:spcAft>
                <a:spcPts val="0"/>
              </a:spcAft>
              <a:defRPr sz="1500" b="1">
                <a:solidFill>
                  <a:srgbClr val="FFFFFF"/>
                </a:solidFill>
                <a:latin typeface="微软雅黑"/>
              </a:defRPr>
            </a:pPr>
            <a:r>
              <a:t>核心价值</a:t>
            </a:r>
          </a:p>
        </p:txBody>
      </p:sp>
      <p:sp>
        <p:nvSpPr>
          <p:cNvPr id="37" name="TextBox 36"/>
          <p:cNvSpPr txBox="1"/>
          <p:nvPr/>
        </p:nvSpPr>
        <p:spPr>
          <a:xfrm>
            <a:off x="1005840" y="5440680"/>
            <a:ext cx="10058400" cy="457200"/>
          </a:xfrm>
          <a:prstGeom prst="rect">
            <a:avLst/>
          </a:prstGeom>
          <a:noFill/>
        </p:spPr>
        <p:txBody>
          <a:bodyPr wrap="square">
            <a:spAutoFit/>
          </a:bodyPr>
          <a:lstStyle/>
          <a:p>
            <a:pPr algn="l">
              <a:lnSpc>
                <a:spcPts val="1820"/>
              </a:lnSpc>
              <a:spcAft>
                <a:spcPts val="0"/>
              </a:spcAft>
              <a:defRPr sz="1400" b="0">
                <a:solidFill>
                  <a:srgbClr val="CCFBF1"/>
                </a:solidFill>
                <a:latin typeface="微软雅黑"/>
              </a:defRPr>
            </a:pPr>
            <a:r>
              <a:t>大幅提高售前响应速度，让销售人员不再完全依赖技术负责人。</a:t>
            </a:r>
          </a:p>
        </p:txBody>
      </p:sp>
      <p:sp>
        <p:nvSpPr>
          <p:cNvPr id="38" name="TextBox 37"/>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"睿美达AI水处理工况诊断系统"</a:t>
            </a:r>
          </a:p>
        </p:txBody>
      </p:sp>
      <p:sp>
        <p:nvSpPr>
          <p:cNvPr id="3" name="Rounded Rectangle 2"/>
          <p:cNvSpPr/>
          <p:nvPr/>
        </p:nvSpPr>
        <p:spPr>
          <a:xfrm>
            <a:off x="731520" y="1188720"/>
            <a:ext cx="5212080" cy="32004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5212080" cy="508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371600"/>
            <a:ext cx="475488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系统功能</a:t>
            </a:r>
          </a:p>
        </p:txBody>
      </p:sp>
      <p:sp>
        <p:nvSpPr>
          <p:cNvPr id="6" name="TextBox 5"/>
          <p:cNvSpPr txBox="1"/>
          <p:nvPr/>
        </p:nvSpPr>
        <p:spPr>
          <a:xfrm>
            <a:off x="960120" y="1737360"/>
            <a:ext cx="4754880" cy="256032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上传历史运行数据</a:t>
            </a:r>
          </a:p>
          <a:p>
            <a:pPr>
              <a:lnSpc>
                <a:spcPts val="1950"/>
              </a:lnSpc>
              <a:spcAft>
                <a:spcPts val="200"/>
              </a:spcAft>
              <a:defRPr sz="1300">
                <a:solidFill>
                  <a:srgbClr val="475569"/>
                </a:solidFill>
                <a:latin typeface="微软雅黑"/>
              </a:defRPr>
            </a:pPr>
            <a:r>
              <a:t>• 分析水质波动规律</a:t>
            </a:r>
          </a:p>
          <a:p>
            <a:pPr>
              <a:lnSpc>
                <a:spcPts val="1950"/>
              </a:lnSpc>
              <a:spcAft>
                <a:spcPts val="200"/>
              </a:spcAft>
              <a:defRPr sz="1300">
                <a:solidFill>
                  <a:srgbClr val="475569"/>
                </a:solidFill>
                <a:latin typeface="微软雅黑"/>
              </a:defRPr>
            </a:pPr>
            <a:r>
              <a:t>• 识别高能耗环节</a:t>
            </a:r>
          </a:p>
          <a:p>
            <a:pPr>
              <a:lnSpc>
                <a:spcPts val="1950"/>
              </a:lnSpc>
              <a:spcAft>
                <a:spcPts val="200"/>
              </a:spcAft>
              <a:defRPr sz="1300">
                <a:solidFill>
                  <a:srgbClr val="475569"/>
                </a:solidFill>
                <a:latin typeface="微软雅黑"/>
              </a:defRPr>
            </a:pPr>
            <a:r>
              <a:t>• 判断臭氧利用效率</a:t>
            </a:r>
          </a:p>
          <a:p>
            <a:pPr>
              <a:lnSpc>
                <a:spcPts val="1950"/>
              </a:lnSpc>
              <a:spcAft>
                <a:spcPts val="200"/>
              </a:spcAft>
              <a:defRPr sz="1300">
                <a:solidFill>
                  <a:srgbClr val="475569"/>
                </a:solidFill>
                <a:latin typeface="微软雅黑"/>
              </a:defRPr>
            </a:pPr>
            <a:r>
              <a:t>• 判断曝气系统是否过曝或欠曝</a:t>
            </a:r>
          </a:p>
          <a:p>
            <a:pPr>
              <a:lnSpc>
                <a:spcPts val="1950"/>
              </a:lnSpc>
              <a:spcAft>
                <a:spcPts val="200"/>
              </a:spcAft>
              <a:defRPr sz="1300">
                <a:solidFill>
                  <a:srgbClr val="475569"/>
                </a:solidFill>
                <a:latin typeface="微软雅黑"/>
              </a:defRPr>
            </a:pPr>
            <a:r>
              <a:t>• 预测改造后节能空间</a:t>
            </a:r>
          </a:p>
          <a:p>
            <a:pPr>
              <a:lnSpc>
                <a:spcPts val="1950"/>
              </a:lnSpc>
              <a:spcAft>
                <a:spcPts val="200"/>
              </a:spcAft>
              <a:defRPr sz="1300">
                <a:solidFill>
                  <a:srgbClr val="475569"/>
                </a:solidFill>
                <a:latin typeface="微软雅黑"/>
              </a:defRPr>
            </a:pPr>
            <a:r>
              <a:t>• 自动生成诊断报告</a:t>
            </a:r>
          </a:p>
        </p:txBody>
      </p:sp>
      <p:sp>
        <p:nvSpPr>
          <p:cNvPr id="7" name="Rounded Rectangle 6"/>
          <p:cNvSpPr/>
          <p:nvPr/>
        </p:nvSpPr>
        <p:spPr>
          <a:xfrm>
            <a:off x="6217920" y="1188720"/>
            <a:ext cx="5212080" cy="32004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188720"/>
            <a:ext cx="521208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371600"/>
            <a:ext cx="475488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对客户输出</a:t>
            </a:r>
          </a:p>
        </p:txBody>
      </p:sp>
      <p:sp>
        <p:nvSpPr>
          <p:cNvPr id="10" name="TextBox 9"/>
          <p:cNvSpPr txBox="1"/>
          <p:nvPr/>
        </p:nvSpPr>
        <p:spPr>
          <a:xfrm>
            <a:off x="6446520" y="1737360"/>
            <a:ext cx="4754880" cy="256032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当前系统问题</a:t>
            </a:r>
          </a:p>
          <a:p>
            <a:pPr>
              <a:lnSpc>
                <a:spcPts val="1950"/>
              </a:lnSpc>
              <a:spcAft>
                <a:spcPts val="200"/>
              </a:spcAft>
              <a:defRPr sz="1300">
                <a:solidFill>
                  <a:srgbClr val="475569"/>
                </a:solidFill>
                <a:latin typeface="微软雅黑"/>
              </a:defRPr>
            </a:pPr>
            <a:r>
              <a:t>• 改造建议</a:t>
            </a:r>
          </a:p>
          <a:p>
            <a:pPr>
              <a:lnSpc>
                <a:spcPts val="1950"/>
              </a:lnSpc>
              <a:spcAft>
                <a:spcPts val="200"/>
              </a:spcAft>
              <a:defRPr sz="1300">
                <a:solidFill>
                  <a:srgbClr val="475569"/>
                </a:solidFill>
                <a:latin typeface="微软雅黑"/>
              </a:defRPr>
            </a:pPr>
            <a:r>
              <a:t>• 投资估算</a:t>
            </a:r>
          </a:p>
          <a:p>
            <a:pPr>
              <a:lnSpc>
                <a:spcPts val="1950"/>
              </a:lnSpc>
              <a:spcAft>
                <a:spcPts val="200"/>
              </a:spcAft>
              <a:defRPr sz="1300">
                <a:solidFill>
                  <a:srgbClr val="475569"/>
                </a:solidFill>
                <a:latin typeface="微软雅黑"/>
              </a:defRPr>
            </a:pPr>
            <a:r>
              <a:t>• 运行成本变化</a:t>
            </a:r>
          </a:p>
          <a:p>
            <a:pPr>
              <a:lnSpc>
                <a:spcPts val="1950"/>
              </a:lnSpc>
              <a:spcAft>
                <a:spcPts val="200"/>
              </a:spcAft>
              <a:defRPr sz="1300">
                <a:solidFill>
                  <a:srgbClr val="475569"/>
                </a:solidFill>
                <a:latin typeface="微软雅黑"/>
              </a:defRPr>
            </a:pPr>
            <a:r>
              <a:t>• 节能降耗测算</a:t>
            </a:r>
          </a:p>
          <a:p>
            <a:pPr>
              <a:lnSpc>
                <a:spcPts val="1950"/>
              </a:lnSpc>
              <a:spcAft>
                <a:spcPts val="200"/>
              </a:spcAft>
              <a:defRPr sz="1300">
                <a:solidFill>
                  <a:srgbClr val="475569"/>
                </a:solidFill>
                <a:latin typeface="微软雅黑"/>
              </a:defRPr>
            </a:pPr>
            <a:r>
              <a:t>• 回收周期</a:t>
            </a:r>
          </a:p>
          <a:p>
            <a:pPr>
              <a:lnSpc>
                <a:spcPts val="1950"/>
              </a:lnSpc>
              <a:spcAft>
                <a:spcPts val="200"/>
              </a:spcAft>
              <a:defRPr sz="1300">
                <a:solidFill>
                  <a:srgbClr val="475569"/>
                </a:solidFill>
                <a:latin typeface="微软雅黑"/>
              </a:defRPr>
            </a:pPr>
            <a:r>
              <a:t>• 风险提示</a:t>
            </a:r>
          </a:p>
        </p:txBody>
      </p:sp>
      <p:sp>
        <p:nvSpPr>
          <p:cNvPr id="11" name="TextBox 10"/>
          <p:cNvSpPr txBox="1"/>
          <p:nvPr/>
        </p:nvSpPr>
        <p:spPr>
          <a:xfrm>
            <a:off x="6492240" y="3840480"/>
            <a:ext cx="4572000" cy="274320"/>
          </a:xfrm>
          <a:prstGeom prst="rect">
            <a:avLst/>
          </a:prstGeom>
          <a:noFill/>
        </p:spPr>
        <p:txBody>
          <a:bodyPr wrap="square">
            <a:spAutoFit/>
          </a:bodyPr>
          <a:lstStyle/>
          <a:p>
            <a:pPr algn="l">
              <a:lnSpc>
                <a:spcPts val="1690"/>
              </a:lnSpc>
              <a:spcAft>
                <a:spcPts val="0"/>
              </a:spcAft>
              <a:defRPr sz="1300" b="1">
                <a:solidFill>
                  <a:srgbClr val="0EA5E9"/>
                </a:solidFill>
                <a:latin typeface="微软雅黑"/>
              </a:defRPr>
            </a:pPr>
            <a:r>
              <a:t>→ 可成为售前成交的"武器"</a:t>
            </a:r>
          </a:p>
        </p:txBody>
      </p:sp>
      <p:sp>
        <p:nvSpPr>
          <p:cNvPr id="12" name="TextBox 11"/>
          <p:cNvSpPr txBox="1"/>
          <p:nvPr/>
        </p:nvSpPr>
        <p:spPr>
          <a:xfrm>
            <a:off x="731520" y="4754880"/>
            <a:ext cx="4572000" cy="274320"/>
          </a:xfrm>
          <a:prstGeom prst="rect">
            <a:avLst/>
          </a:prstGeom>
          <a:noFill/>
        </p:spPr>
        <p:txBody>
          <a:bodyPr wrap="square">
            <a:spAutoFit/>
          </a:bodyPr>
          <a:lstStyle/>
          <a:p>
            <a:pPr algn="l">
              <a:lnSpc>
                <a:spcPts val="1690"/>
              </a:lnSpc>
              <a:spcAft>
                <a:spcPts val="0"/>
              </a:spcAft>
              <a:defRPr sz="1300" b="1">
                <a:solidFill>
                  <a:srgbClr val="64748B"/>
                </a:solidFill>
                <a:latin typeface="微软雅黑"/>
              </a:defRPr>
            </a:pPr>
            <a:r>
              <a:t>AI投标与方案文件可覆盖内容</a:t>
            </a:r>
          </a:p>
        </p:txBody>
      </p:sp>
      <p:sp>
        <p:nvSpPr>
          <p:cNvPr id="13" name="Rounded Rectangle 12"/>
          <p:cNvSpPr/>
          <p:nvPr/>
        </p:nvSpPr>
        <p:spPr>
          <a:xfrm>
            <a:off x="731520" y="5074920"/>
            <a:ext cx="1371600" cy="27432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074920"/>
            <a:ext cx="137160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技术方案初稿</a:t>
            </a:r>
          </a:p>
        </p:txBody>
      </p:sp>
      <p:sp>
        <p:nvSpPr>
          <p:cNvPr id="15" name="Rounded Rectangle 14"/>
          <p:cNvSpPr/>
          <p:nvPr/>
        </p:nvSpPr>
        <p:spPr>
          <a:xfrm>
            <a:off x="2240280" y="5074920"/>
            <a:ext cx="1371600" cy="27432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40280" y="5074920"/>
            <a:ext cx="137160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商务标响应</a:t>
            </a:r>
          </a:p>
        </p:txBody>
      </p:sp>
      <p:sp>
        <p:nvSpPr>
          <p:cNvPr id="17" name="Rounded Rectangle 16"/>
          <p:cNvSpPr/>
          <p:nvPr/>
        </p:nvSpPr>
        <p:spPr>
          <a:xfrm>
            <a:off x="3749039" y="5074920"/>
            <a:ext cx="1371600" cy="274320"/>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49039" y="5074920"/>
            <a:ext cx="137160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施工组织设计</a:t>
            </a:r>
          </a:p>
        </p:txBody>
      </p:sp>
      <p:sp>
        <p:nvSpPr>
          <p:cNvPr id="19" name="Rounded Rectangle 18"/>
          <p:cNvSpPr/>
          <p:nvPr/>
        </p:nvSpPr>
        <p:spPr>
          <a:xfrm>
            <a:off x="5257799" y="5074920"/>
            <a:ext cx="1371600" cy="274320"/>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7799" y="5074920"/>
            <a:ext cx="137160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设备参数说明</a:t>
            </a:r>
          </a:p>
        </p:txBody>
      </p:sp>
      <p:sp>
        <p:nvSpPr>
          <p:cNvPr id="21" name="Rounded Rectangle 20"/>
          <p:cNvSpPr/>
          <p:nvPr/>
        </p:nvSpPr>
        <p:spPr>
          <a:xfrm>
            <a:off x="6766559" y="5074920"/>
            <a:ext cx="1371600" cy="27432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59" y="5074920"/>
            <a:ext cx="137160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运维服务方案</a:t>
            </a:r>
          </a:p>
        </p:txBody>
      </p:sp>
      <p:sp>
        <p:nvSpPr>
          <p:cNvPr id="23" name="Rounded Rectangle 22"/>
          <p:cNvSpPr/>
          <p:nvPr/>
        </p:nvSpPr>
        <p:spPr>
          <a:xfrm>
            <a:off x="8275320" y="5074920"/>
            <a:ext cx="1371600" cy="27432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5074920"/>
            <a:ext cx="137160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PPT汇报材料</a:t>
            </a:r>
          </a:p>
        </p:txBody>
      </p:sp>
      <p:sp>
        <p:nvSpPr>
          <p:cNvPr id="25" name="Rounded Rectangle 24"/>
          <p:cNvSpPr/>
          <p:nvPr/>
        </p:nvSpPr>
        <p:spPr>
          <a:xfrm>
            <a:off x="9784080" y="5074920"/>
            <a:ext cx="1371600" cy="27432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0" y="5074920"/>
            <a:ext cx="1371600" cy="274320"/>
          </a:xfrm>
          <a:prstGeom prst="rect">
            <a:avLst/>
          </a:prstGeom>
          <a:noFill/>
        </p:spPr>
        <p:txBody>
          <a:bodyPr wrap="square">
            <a:spAutoFit/>
          </a:bodyPr>
          <a:lstStyle/>
          <a:p>
            <a:pPr algn="ctr">
              <a:lnSpc>
                <a:spcPts val="1300"/>
              </a:lnSpc>
              <a:spcAft>
                <a:spcPts val="0"/>
              </a:spcAft>
              <a:defRPr sz="1000" b="1">
                <a:solidFill>
                  <a:srgbClr val="FFFFFF"/>
                </a:solidFill>
                <a:latin typeface="微软雅黑"/>
              </a:defRPr>
            </a:pPr>
            <a:r>
              <a:t>类似业绩整理</a:t>
            </a:r>
          </a:p>
        </p:txBody>
      </p:sp>
      <p:sp>
        <p:nvSpPr>
          <p:cNvPr id="27" name="TextBox 26"/>
          <p:cNvSpPr txBox="1"/>
          <p:nvPr/>
        </p:nvSpPr>
        <p:spPr>
          <a:xfrm>
            <a:off x="731520" y="5486400"/>
            <a:ext cx="9144000" cy="274320"/>
          </a:xfrm>
          <a:prstGeom prst="rect">
            <a:avLst/>
          </a:prstGeom>
          <a:noFill/>
        </p:spPr>
        <p:txBody>
          <a:bodyPr wrap="square">
            <a:spAutoFit/>
          </a:bodyPr>
          <a:lstStyle/>
          <a:p>
            <a:pPr algn="l">
              <a:lnSpc>
                <a:spcPts val="1560"/>
              </a:lnSpc>
              <a:spcAft>
                <a:spcPts val="0"/>
              </a:spcAft>
              <a:defRPr sz="1200" b="0">
                <a:solidFill>
                  <a:srgbClr val="64748B"/>
                </a:solidFill>
                <a:latin typeface="微软雅黑"/>
              </a:defRPr>
            </a:pPr>
            <a:r>
              <a:t>AI可完成约70%初稿工作，技术人员只需校对和优化。</a:t>
            </a:r>
          </a:p>
        </p:txBody>
      </p:sp>
      <p:sp>
        <p:nvSpPr>
          <p:cNvPr id="28" name="TextBox 27"/>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920240"/>
            <a:ext cx="10058400" cy="365760"/>
          </a:xfrm>
          <a:prstGeom prst="rect">
            <a:avLst/>
          </a:prstGeom>
          <a:noFill/>
        </p:spPr>
        <p:txBody>
          <a:bodyPr wrap="square">
            <a:spAutoFit/>
          </a:bodyPr>
          <a:lstStyle/>
          <a:p>
            <a:pPr algn="ctr">
              <a:lnSpc>
                <a:spcPts val="1690"/>
              </a:lnSpc>
              <a:spcAft>
                <a:spcPts val="0"/>
              </a:spcAft>
              <a:defRPr sz="1300" b="1">
                <a:solidFill>
                  <a:srgbClr val="8B5CF6"/>
                </a:solidFill>
                <a:latin typeface="微软雅黑"/>
              </a:defRPr>
            </a:pPr>
            <a:r>
              <a:t>板块四（核心）</a:t>
            </a:r>
          </a:p>
        </p:txBody>
      </p:sp>
      <p:sp>
        <p:nvSpPr>
          <p:cNvPr id="3" name="TextBox 2"/>
          <p:cNvSpPr txBox="1"/>
          <p:nvPr/>
        </p:nvSpPr>
        <p:spPr>
          <a:xfrm>
            <a:off x="914400" y="2377440"/>
            <a:ext cx="10058400" cy="731520"/>
          </a:xfrm>
          <a:prstGeom prst="rect">
            <a:avLst/>
          </a:prstGeom>
          <a:noFill/>
        </p:spPr>
        <p:txBody>
          <a:bodyPr wrap="square">
            <a:spAutoFit/>
          </a:bodyPr>
          <a:lstStyle/>
          <a:p>
            <a:pPr algn="ctr">
              <a:lnSpc>
                <a:spcPts val="5200"/>
              </a:lnSpc>
              <a:spcAft>
                <a:spcPts val="0"/>
              </a:spcAft>
              <a:defRPr sz="4000" b="1">
                <a:solidFill>
                  <a:srgbClr val="FFFFFF"/>
                </a:solidFill>
                <a:latin typeface="微软雅黑"/>
              </a:defRPr>
            </a:pPr>
            <a:r>
              <a:t>产品设备端 AI 赋能</a:t>
            </a:r>
          </a:p>
        </p:txBody>
      </p:sp>
      <p:sp>
        <p:nvSpPr>
          <p:cNvPr id="4" name="TextBox 3"/>
          <p:cNvSpPr txBox="1"/>
          <p:nvPr/>
        </p:nvSpPr>
        <p:spPr>
          <a:xfrm>
            <a:off x="914400" y="3291840"/>
            <a:ext cx="10058400" cy="731520"/>
          </a:xfrm>
          <a:prstGeom prst="rect">
            <a:avLst/>
          </a:prstGeom>
          <a:noFill/>
        </p:spPr>
        <p:txBody>
          <a:bodyPr wrap="square">
            <a:spAutoFit/>
          </a:bodyPr>
          <a:lstStyle/>
          <a:p>
            <a:pPr algn="ctr">
              <a:lnSpc>
                <a:spcPts val="2080"/>
              </a:lnSpc>
              <a:spcAft>
                <a:spcPts val="0"/>
              </a:spcAft>
              <a:defRPr sz="1600" b="0">
                <a:solidFill>
                  <a:srgbClr val="94A3B8"/>
                </a:solidFill>
                <a:latin typeface="微软雅黑"/>
              </a:defRPr>
            </a:pPr>
            <a:r>
              <a:t>最核心的差异化方向</a:t>
            </a:r>
            <a:br/>
            <a:r>
              <a:t>从基础产品到智能产品到平台产品的升级路径</a:t>
            </a:r>
          </a:p>
        </p:txBody>
      </p:sp>
      <p:sp>
        <p:nvSpPr>
          <p:cNvPr id="5" name="TextBox 4"/>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产品升级路径</a:t>
            </a:r>
          </a:p>
        </p:txBody>
      </p:sp>
      <p:sp>
        <p:nvSpPr>
          <p:cNvPr id="3" name="Rounded Rectangle 2"/>
          <p:cNvSpPr/>
          <p:nvPr/>
        </p:nvSpPr>
        <p:spPr>
          <a:xfrm>
            <a:off x="457200" y="1188720"/>
            <a:ext cx="2377440" cy="109728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2377440" cy="274320"/>
          </a:xfrm>
          <a:prstGeom prst="rect">
            <a:avLst/>
          </a:prstGeom>
          <a:noFill/>
        </p:spPr>
        <p:txBody>
          <a:bodyPr wrap="square">
            <a:spAutoFit/>
          </a:bodyPr>
          <a:lstStyle/>
          <a:p>
            <a:pPr algn="ctr">
              <a:lnSpc>
                <a:spcPts val="1430"/>
              </a:lnSpc>
              <a:spcAft>
                <a:spcPts val="0"/>
              </a:spcAft>
              <a:defRPr sz="1100" b="1">
                <a:solidFill>
                  <a:srgbClr val="0EA5E9"/>
                </a:solidFill>
                <a:latin typeface="微软雅黑"/>
              </a:defRPr>
            </a:pPr>
            <a:r>
              <a:t>基础产品</a:t>
            </a:r>
          </a:p>
        </p:txBody>
      </p:sp>
      <p:sp>
        <p:nvSpPr>
          <p:cNvPr id="5" name="TextBox 4"/>
          <p:cNvSpPr txBox="1"/>
          <p:nvPr/>
        </p:nvSpPr>
        <p:spPr>
          <a:xfrm>
            <a:off x="548640" y="1554480"/>
            <a:ext cx="2194560" cy="640080"/>
          </a:xfrm>
          <a:prstGeom prst="rect">
            <a:avLst/>
          </a:prstGeom>
          <a:noFill/>
        </p:spPr>
        <p:txBody>
          <a:bodyPr wrap="square">
            <a:spAutoFit/>
          </a:bodyPr>
          <a:lstStyle/>
          <a:p>
            <a:pPr algn="ctr">
              <a:lnSpc>
                <a:spcPts val="1560"/>
              </a:lnSpc>
              <a:spcAft>
                <a:spcPts val="0"/>
              </a:spcAft>
              <a:defRPr sz="1200" b="0">
                <a:solidFill>
                  <a:srgbClr val="1E293B"/>
                </a:solidFill>
                <a:latin typeface="微软雅黑"/>
              </a:defRPr>
            </a:pPr>
            <a:r>
              <a:t>超微纳米曝气器</a:t>
            </a:r>
            <a:br/>
            <a:r>
              <a:t>臭氧催化氧化设备</a:t>
            </a:r>
          </a:p>
        </p:txBody>
      </p:sp>
      <p:sp>
        <p:nvSpPr>
          <p:cNvPr id="6" name="TextBox 5"/>
          <p:cNvSpPr txBox="1"/>
          <p:nvPr/>
        </p:nvSpPr>
        <p:spPr>
          <a:xfrm>
            <a:off x="2834640" y="1417320"/>
            <a:ext cx="502920" cy="457200"/>
          </a:xfrm>
          <a:prstGeom prst="rect">
            <a:avLst/>
          </a:prstGeom>
          <a:noFill/>
        </p:spPr>
        <p:txBody>
          <a:bodyPr wrap="square">
            <a:spAutoFit/>
          </a:bodyPr>
          <a:lstStyle/>
          <a:p>
            <a:pPr algn="ctr">
              <a:lnSpc>
                <a:spcPts val="3120"/>
              </a:lnSpc>
              <a:spcAft>
                <a:spcPts val="0"/>
              </a:spcAft>
              <a:defRPr sz="2400" b="1">
                <a:solidFill>
                  <a:srgbClr val="0EA5E9"/>
                </a:solidFill>
                <a:latin typeface="微软雅黑"/>
              </a:defRPr>
            </a:pPr>
            <a:r>
              <a:t>→</a:t>
            </a:r>
          </a:p>
        </p:txBody>
      </p:sp>
      <p:sp>
        <p:nvSpPr>
          <p:cNvPr id="7" name="Rounded Rectangle 6"/>
          <p:cNvSpPr/>
          <p:nvPr/>
        </p:nvSpPr>
        <p:spPr>
          <a:xfrm>
            <a:off x="3337560" y="1188720"/>
            <a:ext cx="2377440" cy="109728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0" y="1234440"/>
            <a:ext cx="2377440" cy="274320"/>
          </a:xfrm>
          <a:prstGeom prst="rect">
            <a:avLst/>
          </a:prstGeom>
          <a:noFill/>
        </p:spPr>
        <p:txBody>
          <a:bodyPr wrap="square">
            <a:spAutoFit/>
          </a:bodyPr>
          <a:lstStyle/>
          <a:p>
            <a:pPr algn="ctr">
              <a:lnSpc>
                <a:spcPts val="1430"/>
              </a:lnSpc>
              <a:spcAft>
                <a:spcPts val="0"/>
              </a:spcAft>
              <a:defRPr sz="1100" b="1">
                <a:solidFill>
                  <a:srgbClr val="10B981"/>
                </a:solidFill>
                <a:latin typeface="微软雅黑"/>
              </a:defRPr>
            </a:pPr>
            <a:r>
              <a:t>升级产品</a:t>
            </a:r>
          </a:p>
        </p:txBody>
      </p:sp>
      <p:sp>
        <p:nvSpPr>
          <p:cNvPr id="9" name="TextBox 8"/>
          <p:cNvSpPr txBox="1"/>
          <p:nvPr/>
        </p:nvSpPr>
        <p:spPr>
          <a:xfrm>
            <a:off x="3429000" y="1554480"/>
            <a:ext cx="2194560" cy="640080"/>
          </a:xfrm>
          <a:prstGeom prst="rect">
            <a:avLst/>
          </a:prstGeom>
          <a:noFill/>
        </p:spPr>
        <p:txBody>
          <a:bodyPr wrap="square">
            <a:spAutoFit/>
          </a:bodyPr>
          <a:lstStyle/>
          <a:p>
            <a:pPr algn="ctr">
              <a:lnSpc>
                <a:spcPts val="1560"/>
              </a:lnSpc>
              <a:spcAft>
                <a:spcPts val="0"/>
              </a:spcAft>
              <a:defRPr sz="1200" b="0">
                <a:solidFill>
                  <a:srgbClr val="1E293B"/>
                </a:solidFill>
                <a:latin typeface="微软雅黑"/>
              </a:defRPr>
            </a:pPr>
            <a:r>
              <a:t>纳米曝气臭氧催化</a:t>
            </a:r>
            <a:br/>
            <a:r>
              <a:t>氧化一体化设备</a:t>
            </a:r>
          </a:p>
        </p:txBody>
      </p:sp>
      <p:sp>
        <p:nvSpPr>
          <p:cNvPr id="10" name="TextBox 9"/>
          <p:cNvSpPr txBox="1"/>
          <p:nvPr/>
        </p:nvSpPr>
        <p:spPr>
          <a:xfrm>
            <a:off x="5715000" y="1417320"/>
            <a:ext cx="502920" cy="457200"/>
          </a:xfrm>
          <a:prstGeom prst="rect">
            <a:avLst/>
          </a:prstGeom>
          <a:noFill/>
        </p:spPr>
        <p:txBody>
          <a:bodyPr wrap="square">
            <a:spAutoFit/>
          </a:bodyPr>
          <a:lstStyle/>
          <a:p>
            <a:pPr algn="ctr">
              <a:lnSpc>
                <a:spcPts val="3120"/>
              </a:lnSpc>
              <a:spcAft>
                <a:spcPts val="0"/>
              </a:spcAft>
              <a:defRPr sz="2400" b="1">
                <a:solidFill>
                  <a:srgbClr val="0EA5E9"/>
                </a:solidFill>
                <a:latin typeface="微软雅黑"/>
              </a:defRPr>
            </a:pPr>
            <a:r>
              <a:t>→</a:t>
            </a:r>
          </a:p>
        </p:txBody>
      </p:sp>
      <p:sp>
        <p:nvSpPr>
          <p:cNvPr id="11" name="Rounded Rectangle 10"/>
          <p:cNvSpPr/>
          <p:nvPr/>
        </p:nvSpPr>
        <p:spPr>
          <a:xfrm>
            <a:off x="6217920" y="1188720"/>
            <a:ext cx="2377440" cy="109728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234440"/>
            <a:ext cx="2377440" cy="274320"/>
          </a:xfrm>
          <a:prstGeom prst="rect">
            <a:avLst/>
          </a:prstGeom>
          <a:noFill/>
        </p:spPr>
        <p:txBody>
          <a:bodyPr wrap="square">
            <a:spAutoFit/>
          </a:bodyPr>
          <a:lstStyle/>
          <a:p>
            <a:pPr algn="ctr">
              <a:lnSpc>
                <a:spcPts val="1430"/>
              </a:lnSpc>
              <a:spcAft>
                <a:spcPts val="0"/>
              </a:spcAft>
              <a:defRPr sz="1100" b="1">
                <a:solidFill>
                  <a:srgbClr val="8B5CF6"/>
                </a:solidFill>
                <a:latin typeface="微软雅黑"/>
              </a:defRPr>
            </a:pPr>
            <a:r>
              <a:t>智能产品</a:t>
            </a:r>
          </a:p>
        </p:txBody>
      </p:sp>
      <p:sp>
        <p:nvSpPr>
          <p:cNvPr id="13" name="TextBox 12"/>
          <p:cNvSpPr txBox="1"/>
          <p:nvPr/>
        </p:nvSpPr>
        <p:spPr>
          <a:xfrm>
            <a:off x="6309360" y="1554480"/>
            <a:ext cx="2194560" cy="640080"/>
          </a:xfrm>
          <a:prstGeom prst="rect">
            <a:avLst/>
          </a:prstGeom>
          <a:noFill/>
        </p:spPr>
        <p:txBody>
          <a:bodyPr wrap="square">
            <a:spAutoFit/>
          </a:bodyPr>
          <a:lstStyle/>
          <a:p>
            <a:pPr algn="ctr">
              <a:lnSpc>
                <a:spcPts val="1560"/>
              </a:lnSpc>
              <a:spcAft>
                <a:spcPts val="0"/>
              </a:spcAft>
              <a:defRPr sz="1200" b="0">
                <a:solidFill>
                  <a:srgbClr val="1E293B"/>
                </a:solidFill>
                <a:latin typeface="微软雅黑"/>
              </a:defRPr>
            </a:pPr>
            <a:r>
              <a:t>AI智能超微纳米曝气</a:t>
            </a:r>
            <a:br/>
            <a:r>
              <a:t>臭氧催化氧化系统</a:t>
            </a:r>
          </a:p>
        </p:txBody>
      </p:sp>
      <p:sp>
        <p:nvSpPr>
          <p:cNvPr id="14" name="TextBox 13"/>
          <p:cNvSpPr txBox="1"/>
          <p:nvPr/>
        </p:nvSpPr>
        <p:spPr>
          <a:xfrm>
            <a:off x="8595360" y="1417320"/>
            <a:ext cx="502920" cy="457200"/>
          </a:xfrm>
          <a:prstGeom prst="rect">
            <a:avLst/>
          </a:prstGeom>
          <a:noFill/>
        </p:spPr>
        <p:txBody>
          <a:bodyPr wrap="square">
            <a:spAutoFit/>
          </a:bodyPr>
          <a:lstStyle/>
          <a:p>
            <a:pPr algn="ctr">
              <a:lnSpc>
                <a:spcPts val="3120"/>
              </a:lnSpc>
              <a:spcAft>
                <a:spcPts val="0"/>
              </a:spcAft>
              <a:defRPr sz="2400" b="1">
                <a:solidFill>
                  <a:srgbClr val="0EA5E9"/>
                </a:solidFill>
                <a:latin typeface="微软雅黑"/>
              </a:defRPr>
            </a:pPr>
            <a:r>
              <a:t>→</a:t>
            </a:r>
          </a:p>
        </p:txBody>
      </p:sp>
      <p:sp>
        <p:nvSpPr>
          <p:cNvPr id="15" name="Rounded Rectangle 14"/>
          <p:cNvSpPr/>
          <p:nvPr/>
        </p:nvSpPr>
        <p:spPr>
          <a:xfrm>
            <a:off x="9098280" y="1188720"/>
            <a:ext cx="2377440" cy="109728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234440"/>
            <a:ext cx="2377440" cy="274320"/>
          </a:xfrm>
          <a:prstGeom prst="rect">
            <a:avLst/>
          </a:prstGeom>
          <a:noFill/>
        </p:spPr>
        <p:txBody>
          <a:bodyPr wrap="square">
            <a:spAutoFit/>
          </a:bodyPr>
          <a:lstStyle/>
          <a:p>
            <a:pPr algn="ctr">
              <a:lnSpc>
                <a:spcPts val="1430"/>
              </a:lnSpc>
              <a:spcAft>
                <a:spcPts val="0"/>
              </a:spcAft>
              <a:defRPr sz="1100" b="1">
                <a:solidFill>
                  <a:srgbClr val="0F766E"/>
                </a:solidFill>
                <a:latin typeface="微软雅黑"/>
              </a:defRPr>
            </a:pPr>
            <a:r>
              <a:t>平台产品</a:t>
            </a:r>
          </a:p>
        </p:txBody>
      </p:sp>
      <p:sp>
        <p:nvSpPr>
          <p:cNvPr id="17" name="TextBox 16"/>
          <p:cNvSpPr txBox="1"/>
          <p:nvPr/>
        </p:nvSpPr>
        <p:spPr>
          <a:xfrm>
            <a:off x="9189720" y="1554480"/>
            <a:ext cx="2194560" cy="640080"/>
          </a:xfrm>
          <a:prstGeom prst="rect">
            <a:avLst/>
          </a:prstGeom>
          <a:noFill/>
        </p:spPr>
        <p:txBody>
          <a:bodyPr wrap="square">
            <a:spAutoFit/>
          </a:bodyPr>
          <a:lstStyle/>
          <a:p>
            <a:pPr algn="ctr">
              <a:lnSpc>
                <a:spcPts val="1560"/>
              </a:lnSpc>
              <a:spcAft>
                <a:spcPts val="0"/>
              </a:spcAft>
              <a:defRPr sz="1200" b="0">
                <a:solidFill>
                  <a:srgbClr val="1E293B"/>
                </a:solidFill>
                <a:latin typeface="微软雅黑"/>
              </a:defRPr>
            </a:pPr>
            <a:r>
              <a:t>智慧水处理</a:t>
            </a:r>
            <a:br/>
            <a:r>
              <a:t>运维管理平台</a:t>
            </a:r>
          </a:p>
        </p:txBody>
      </p:sp>
      <p:sp>
        <p:nvSpPr>
          <p:cNvPr id="18" name="Rounded Rectangle 17"/>
          <p:cNvSpPr/>
          <p:nvPr/>
        </p:nvSpPr>
        <p:spPr>
          <a:xfrm>
            <a:off x="457200" y="2743200"/>
            <a:ext cx="3474720" cy="201168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3474720" cy="508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926080"/>
            <a:ext cx="3108960" cy="365760"/>
          </a:xfrm>
          <a:prstGeom prst="rect">
            <a:avLst/>
          </a:prstGeom>
          <a:noFill/>
        </p:spPr>
        <p:txBody>
          <a:bodyPr wrap="square">
            <a:spAutoFit/>
          </a:bodyPr>
          <a:lstStyle/>
          <a:p>
            <a:pPr algn="l">
              <a:lnSpc>
                <a:spcPts val="1950"/>
              </a:lnSpc>
              <a:spcAft>
                <a:spcPts val="0"/>
              </a:spcAft>
              <a:defRPr sz="1500" b="1">
                <a:solidFill>
                  <a:srgbClr val="1E293B"/>
                </a:solidFill>
                <a:latin typeface="微软雅黑"/>
              </a:defRPr>
            </a:pPr>
            <a:r>
              <a:t>🖥️  AI智能控制柜</a:t>
            </a:r>
          </a:p>
        </p:txBody>
      </p:sp>
      <p:sp>
        <p:nvSpPr>
          <p:cNvPr id="21" name="TextBox 20"/>
          <p:cNvSpPr txBox="1"/>
          <p:nvPr/>
        </p:nvSpPr>
        <p:spPr>
          <a:xfrm>
            <a:off x="640080" y="3383280"/>
            <a:ext cx="3108960" cy="1097280"/>
          </a:xfrm>
          <a:prstGeom prst="rect">
            <a:avLst/>
          </a:prstGeom>
          <a:noFill/>
        </p:spPr>
        <p:txBody>
          <a:bodyPr wrap="square">
            <a:spAutoFit/>
          </a:bodyPr>
          <a:lstStyle/>
          <a:p>
            <a:pPr algn="l">
              <a:lnSpc>
                <a:spcPts val="1690"/>
              </a:lnSpc>
              <a:spcAft>
                <a:spcPts val="0"/>
              </a:spcAft>
              <a:defRPr sz="1300" b="0">
                <a:solidFill>
                  <a:srgbClr val="475569"/>
                </a:solidFill>
                <a:latin typeface="微软雅黑"/>
              </a:defRPr>
            </a:pPr>
            <a:r>
              <a:t>最快落地的产品形态。接入臭氧发生器、曝气机组、风机、循环泵、加药系统、PLC等。</a:t>
            </a:r>
          </a:p>
        </p:txBody>
      </p:sp>
      <p:sp>
        <p:nvSpPr>
          <p:cNvPr id="22" name="Rounded Rectangle 21"/>
          <p:cNvSpPr/>
          <p:nvPr/>
        </p:nvSpPr>
        <p:spPr>
          <a:xfrm>
            <a:off x="4251960" y="2743200"/>
            <a:ext cx="3474720" cy="201168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51960" y="2743200"/>
            <a:ext cx="347472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2926080"/>
            <a:ext cx="3108960" cy="365760"/>
          </a:xfrm>
          <a:prstGeom prst="rect">
            <a:avLst/>
          </a:prstGeom>
          <a:noFill/>
        </p:spPr>
        <p:txBody>
          <a:bodyPr wrap="square">
            <a:spAutoFit/>
          </a:bodyPr>
          <a:lstStyle/>
          <a:p>
            <a:pPr algn="l">
              <a:lnSpc>
                <a:spcPts val="1950"/>
              </a:lnSpc>
              <a:spcAft>
                <a:spcPts val="0"/>
              </a:spcAft>
              <a:defRPr sz="1500" b="1">
                <a:solidFill>
                  <a:srgbClr val="1E293B"/>
                </a:solidFill>
                <a:latin typeface="微软雅黑"/>
              </a:defRPr>
            </a:pPr>
            <a:r>
              <a:t>💨  AI自适应臭氧投加</a:t>
            </a:r>
          </a:p>
        </p:txBody>
      </p:sp>
      <p:sp>
        <p:nvSpPr>
          <p:cNvPr id="25" name="TextBox 24"/>
          <p:cNvSpPr txBox="1"/>
          <p:nvPr/>
        </p:nvSpPr>
        <p:spPr>
          <a:xfrm>
            <a:off x="4434840" y="3383280"/>
            <a:ext cx="3108960" cy="1097280"/>
          </a:xfrm>
          <a:prstGeom prst="rect">
            <a:avLst/>
          </a:prstGeom>
          <a:noFill/>
        </p:spPr>
        <p:txBody>
          <a:bodyPr wrap="square">
            <a:spAutoFit/>
          </a:bodyPr>
          <a:lstStyle/>
          <a:p>
            <a:pPr algn="l">
              <a:lnSpc>
                <a:spcPts val="1690"/>
              </a:lnSpc>
              <a:spcAft>
                <a:spcPts val="0"/>
              </a:spcAft>
              <a:defRPr sz="1300" b="0">
                <a:solidFill>
                  <a:srgbClr val="475569"/>
                </a:solidFill>
                <a:latin typeface="微软雅黑"/>
              </a:defRPr>
            </a:pPr>
            <a:r>
              <a:t>根据进水COD/ORP/pH预测臭氧需求，动态调整功率，减少过量投加。</a:t>
            </a:r>
          </a:p>
        </p:txBody>
      </p:sp>
      <p:sp>
        <p:nvSpPr>
          <p:cNvPr id="26" name="Rounded Rectangle 25"/>
          <p:cNvSpPr/>
          <p:nvPr/>
        </p:nvSpPr>
        <p:spPr>
          <a:xfrm>
            <a:off x="8046720" y="2743200"/>
            <a:ext cx="3474720" cy="201168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2743200"/>
            <a:ext cx="3474720"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2926080"/>
            <a:ext cx="3108960" cy="365760"/>
          </a:xfrm>
          <a:prstGeom prst="rect">
            <a:avLst/>
          </a:prstGeom>
          <a:noFill/>
        </p:spPr>
        <p:txBody>
          <a:bodyPr wrap="square">
            <a:spAutoFit/>
          </a:bodyPr>
          <a:lstStyle/>
          <a:p>
            <a:pPr algn="l">
              <a:lnSpc>
                <a:spcPts val="1950"/>
              </a:lnSpc>
              <a:spcAft>
                <a:spcPts val="0"/>
              </a:spcAft>
              <a:defRPr sz="1500" b="1">
                <a:solidFill>
                  <a:srgbClr val="1E293B"/>
                </a:solidFill>
                <a:latin typeface="微软雅黑"/>
              </a:defRPr>
            </a:pPr>
            <a:r>
              <a:t>🌊  AI智能曝气控制</a:t>
            </a:r>
          </a:p>
        </p:txBody>
      </p:sp>
      <p:sp>
        <p:nvSpPr>
          <p:cNvPr id="29" name="TextBox 28"/>
          <p:cNvSpPr txBox="1"/>
          <p:nvPr/>
        </p:nvSpPr>
        <p:spPr>
          <a:xfrm>
            <a:off x="8229600" y="3383280"/>
            <a:ext cx="3108960" cy="1097280"/>
          </a:xfrm>
          <a:prstGeom prst="rect">
            <a:avLst/>
          </a:prstGeom>
          <a:noFill/>
        </p:spPr>
        <p:txBody>
          <a:bodyPr wrap="square">
            <a:spAutoFit/>
          </a:bodyPr>
          <a:lstStyle/>
          <a:p>
            <a:pPr algn="l">
              <a:lnSpc>
                <a:spcPts val="1690"/>
              </a:lnSpc>
              <a:spcAft>
                <a:spcPts val="0"/>
              </a:spcAft>
              <a:defRPr sz="1300" b="0">
                <a:solidFill>
                  <a:srgbClr val="475569"/>
                </a:solidFill>
                <a:latin typeface="微软雅黑"/>
              </a:defRPr>
            </a:pPr>
            <a:r>
              <a:t>根据DO/流量/水质负荷动态调节风机频率，避免过曝，放大节能优势。</a:t>
            </a:r>
          </a:p>
        </p:txBody>
      </p:sp>
      <p:sp>
        <p:nvSpPr>
          <p:cNvPr id="30" name="TextBox 29"/>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AI智能控制柜 — 接入参数与控制目标</a:t>
            </a:r>
          </a:p>
        </p:txBody>
      </p:sp>
      <p:sp>
        <p:nvSpPr>
          <p:cNvPr id="3" name="TextBox 2"/>
          <p:cNvSpPr txBox="1"/>
          <p:nvPr/>
        </p:nvSpPr>
        <p:spPr>
          <a:xfrm>
            <a:off x="731520" y="1188720"/>
            <a:ext cx="2743200" cy="365760"/>
          </a:xfrm>
          <a:prstGeom prst="rect">
            <a:avLst/>
          </a:prstGeom>
          <a:noFill/>
        </p:spPr>
        <p:txBody>
          <a:bodyPr wrap="square">
            <a:spAutoFit/>
          </a:bodyPr>
          <a:lstStyle/>
          <a:p>
            <a:pPr algn="l">
              <a:lnSpc>
                <a:spcPts val="2080"/>
              </a:lnSpc>
              <a:spcAft>
                <a:spcPts val="0"/>
              </a:spcAft>
              <a:defRPr sz="1600" b="1">
                <a:solidFill>
                  <a:srgbClr val="0F172A"/>
                </a:solidFill>
                <a:latin typeface="微软雅黑"/>
              </a:defRPr>
            </a:pPr>
            <a:r>
              <a:t>接入设备</a:t>
            </a:r>
          </a:p>
        </p:txBody>
      </p:sp>
      <p:sp>
        <p:nvSpPr>
          <p:cNvPr id="4" name="Rectangle 3"/>
          <p:cNvSpPr/>
          <p:nvPr/>
        </p:nvSpPr>
        <p:spPr>
          <a:xfrm>
            <a:off x="731520" y="1508760"/>
            <a:ext cx="365760" cy="381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029200" cy="18288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臭氧发生器</a:t>
            </a:r>
          </a:p>
          <a:p>
            <a:pPr>
              <a:lnSpc>
                <a:spcPts val="1950"/>
              </a:lnSpc>
              <a:spcAft>
                <a:spcPts val="200"/>
              </a:spcAft>
              <a:defRPr sz="1300">
                <a:solidFill>
                  <a:srgbClr val="475569"/>
                </a:solidFill>
                <a:latin typeface="微软雅黑"/>
              </a:defRPr>
            </a:pPr>
            <a:r>
              <a:t>▸ 曝气机组 / 风机</a:t>
            </a:r>
          </a:p>
          <a:p>
            <a:pPr>
              <a:lnSpc>
                <a:spcPts val="1950"/>
              </a:lnSpc>
              <a:spcAft>
                <a:spcPts val="200"/>
              </a:spcAft>
              <a:defRPr sz="1300">
                <a:solidFill>
                  <a:srgbClr val="475569"/>
                </a:solidFill>
                <a:latin typeface="微软雅黑"/>
              </a:defRPr>
            </a:pPr>
            <a:r>
              <a:t>▸ 循环泵</a:t>
            </a:r>
          </a:p>
          <a:p>
            <a:pPr>
              <a:lnSpc>
                <a:spcPts val="1950"/>
              </a:lnSpc>
              <a:spcAft>
                <a:spcPts val="200"/>
              </a:spcAft>
              <a:defRPr sz="1300">
                <a:solidFill>
                  <a:srgbClr val="475569"/>
                </a:solidFill>
                <a:latin typeface="微软雅黑"/>
              </a:defRPr>
            </a:pPr>
            <a:r>
              <a:t>▸ 加药系统</a:t>
            </a:r>
          </a:p>
          <a:p>
            <a:pPr>
              <a:lnSpc>
                <a:spcPts val="1950"/>
              </a:lnSpc>
              <a:spcAft>
                <a:spcPts val="200"/>
              </a:spcAft>
              <a:defRPr sz="1300">
                <a:solidFill>
                  <a:srgbClr val="475569"/>
                </a:solidFill>
                <a:latin typeface="微软雅黑"/>
              </a:defRPr>
            </a:pPr>
            <a:r>
              <a:t>▸ 在线仪表</a:t>
            </a:r>
          </a:p>
          <a:p>
            <a:pPr>
              <a:lnSpc>
                <a:spcPts val="1950"/>
              </a:lnSpc>
              <a:spcAft>
                <a:spcPts val="200"/>
              </a:spcAft>
              <a:defRPr sz="1300">
                <a:solidFill>
                  <a:srgbClr val="475569"/>
                </a:solidFill>
                <a:latin typeface="微软雅黑"/>
              </a:defRPr>
            </a:pPr>
            <a:r>
              <a:t>▸ 阀门</a:t>
            </a:r>
          </a:p>
          <a:p>
            <a:pPr>
              <a:lnSpc>
                <a:spcPts val="1950"/>
              </a:lnSpc>
              <a:spcAft>
                <a:spcPts val="200"/>
              </a:spcAft>
              <a:defRPr sz="1300">
                <a:solidFill>
                  <a:srgbClr val="475569"/>
                </a:solidFill>
                <a:latin typeface="微软雅黑"/>
              </a:defRPr>
            </a:pPr>
            <a:r>
              <a:t>▸ PLC控制系统</a:t>
            </a:r>
          </a:p>
        </p:txBody>
      </p:sp>
      <p:sp>
        <p:nvSpPr>
          <p:cNvPr id="6" name="TextBox 5"/>
          <p:cNvSpPr txBox="1"/>
          <p:nvPr/>
        </p:nvSpPr>
        <p:spPr>
          <a:xfrm>
            <a:off x="731520" y="3474720"/>
            <a:ext cx="2743200" cy="365760"/>
          </a:xfrm>
          <a:prstGeom prst="rect">
            <a:avLst/>
          </a:prstGeom>
          <a:noFill/>
        </p:spPr>
        <p:txBody>
          <a:bodyPr wrap="square">
            <a:spAutoFit/>
          </a:bodyPr>
          <a:lstStyle/>
          <a:p>
            <a:pPr algn="l">
              <a:lnSpc>
                <a:spcPts val="1820"/>
              </a:lnSpc>
              <a:spcAft>
                <a:spcPts val="0"/>
              </a:spcAft>
              <a:defRPr sz="1400" b="1">
                <a:solidFill>
                  <a:srgbClr val="0F172A"/>
                </a:solidFill>
                <a:latin typeface="微软雅黑"/>
              </a:defRPr>
            </a:pPr>
            <a:r>
              <a:t>关键数据</a:t>
            </a:r>
          </a:p>
        </p:txBody>
      </p:sp>
      <p:sp>
        <p:nvSpPr>
          <p:cNvPr id="7" name="Rounded Rectangle 6"/>
          <p:cNvSpPr/>
          <p:nvPr/>
        </p:nvSpPr>
        <p:spPr>
          <a:xfrm>
            <a:off x="731520" y="3840480"/>
            <a:ext cx="868680" cy="256032"/>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840480"/>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进水流量</a:t>
            </a:r>
          </a:p>
        </p:txBody>
      </p:sp>
      <p:sp>
        <p:nvSpPr>
          <p:cNvPr id="9" name="Rounded Rectangle 8"/>
          <p:cNvSpPr/>
          <p:nvPr/>
        </p:nvSpPr>
        <p:spPr>
          <a:xfrm>
            <a:off x="1737360" y="3840480"/>
            <a:ext cx="868680" cy="256032"/>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360" y="3840480"/>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COD</a:t>
            </a:r>
          </a:p>
        </p:txBody>
      </p:sp>
      <p:sp>
        <p:nvSpPr>
          <p:cNvPr id="11" name="Rounded Rectangle 10"/>
          <p:cNvSpPr/>
          <p:nvPr/>
        </p:nvSpPr>
        <p:spPr>
          <a:xfrm>
            <a:off x="2743200" y="3840480"/>
            <a:ext cx="868680" cy="256032"/>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3840480"/>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pH</a:t>
            </a:r>
          </a:p>
        </p:txBody>
      </p:sp>
      <p:sp>
        <p:nvSpPr>
          <p:cNvPr id="13" name="Rounded Rectangle 12"/>
          <p:cNvSpPr/>
          <p:nvPr/>
        </p:nvSpPr>
        <p:spPr>
          <a:xfrm>
            <a:off x="3749040" y="3840480"/>
            <a:ext cx="868680" cy="256032"/>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0" y="3840480"/>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ORP</a:t>
            </a:r>
          </a:p>
        </p:txBody>
      </p:sp>
      <p:sp>
        <p:nvSpPr>
          <p:cNvPr id="15" name="Rounded Rectangle 14"/>
          <p:cNvSpPr/>
          <p:nvPr/>
        </p:nvSpPr>
        <p:spPr>
          <a:xfrm>
            <a:off x="4754880" y="3840480"/>
            <a:ext cx="868680" cy="256032"/>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3840480"/>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DO</a:t>
            </a:r>
          </a:p>
        </p:txBody>
      </p:sp>
      <p:sp>
        <p:nvSpPr>
          <p:cNvPr id="17" name="Rounded Rectangle 16"/>
          <p:cNvSpPr/>
          <p:nvPr/>
        </p:nvSpPr>
        <p:spPr>
          <a:xfrm>
            <a:off x="731520" y="4187952"/>
            <a:ext cx="868680" cy="256032"/>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187952"/>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温度</a:t>
            </a:r>
          </a:p>
        </p:txBody>
      </p:sp>
      <p:sp>
        <p:nvSpPr>
          <p:cNvPr id="19" name="Rounded Rectangle 18"/>
          <p:cNvSpPr/>
          <p:nvPr/>
        </p:nvSpPr>
        <p:spPr>
          <a:xfrm>
            <a:off x="1737360" y="4187952"/>
            <a:ext cx="868680" cy="256032"/>
          </a:xfrm>
          <a:prstGeom prst="roundRect">
            <a:avLst>
              <a:gd name="adj" fmla="val 4000"/>
            </a:avLst>
          </a:prstGeom>
          <a:solidFill>
            <a:srgbClr val="05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7360" y="4187952"/>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浊度</a:t>
            </a:r>
          </a:p>
        </p:txBody>
      </p:sp>
      <p:sp>
        <p:nvSpPr>
          <p:cNvPr id="21" name="Rounded Rectangle 20"/>
          <p:cNvSpPr/>
          <p:nvPr/>
        </p:nvSpPr>
        <p:spPr>
          <a:xfrm>
            <a:off x="2743200" y="4187952"/>
            <a:ext cx="868680" cy="256032"/>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0" y="4187952"/>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氨氮</a:t>
            </a:r>
          </a:p>
        </p:txBody>
      </p:sp>
      <p:sp>
        <p:nvSpPr>
          <p:cNvPr id="23" name="Rounded Rectangle 22"/>
          <p:cNvSpPr/>
          <p:nvPr/>
        </p:nvSpPr>
        <p:spPr>
          <a:xfrm>
            <a:off x="3749040" y="4187952"/>
            <a:ext cx="868680" cy="256032"/>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49040" y="4187952"/>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总磷</a:t>
            </a:r>
          </a:p>
        </p:txBody>
      </p:sp>
      <p:sp>
        <p:nvSpPr>
          <p:cNvPr id="25" name="Rounded Rectangle 24"/>
          <p:cNvSpPr/>
          <p:nvPr/>
        </p:nvSpPr>
        <p:spPr>
          <a:xfrm>
            <a:off x="4754880" y="4187952"/>
            <a:ext cx="868680" cy="256032"/>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0" y="4187952"/>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残余臭氧</a:t>
            </a:r>
          </a:p>
        </p:txBody>
      </p:sp>
      <p:sp>
        <p:nvSpPr>
          <p:cNvPr id="27" name="Rounded Rectangle 26"/>
          <p:cNvSpPr/>
          <p:nvPr/>
        </p:nvSpPr>
        <p:spPr>
          <a:xfrm>
            <a:off x="731520" y="4535424"/>
            <a:ext cx="868680" cy="256032"/>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535424"/>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出水COD</a:t>
            </a:r>
          </a:p>
        </p:txBody>
      </p:sp>
      <p:sp>
        <p:nvSpPr>
          <p:cNvPr id="29" name="Rounded Rectangle 28"/>
          <p:cNvSpPr/>
          <p:nvPr/>
        </p:nvSpPr>
        <p:spPr>
          <a:xfrm>
            <a:off x="1737360" y="4535424"/>
            <a:ext cx="868680" cy="256032"/>
          </a:xfrm>
          <a:prstGeom prst="roundRect">
            <a:avLst>
              <a:gd name="adj" fmla="val 4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37360" y="4535424"/>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电耗</a:t>
            </a:r>
          </a:p>
        </p:txBody>
      </p:sp>
      <p:sp>
        <p:nvSpPr>
          <p:cNvPr id="31" name="Rounded Rectangle 30"/>
          <p:cNvSpPr/>
          <p:nvPr/>
        </p:nvSpPr>
        <p:spPr>
          <a:xfrm>
            <a:off x="2743200" y="4535424"/>
            <a:ext cx="868680" cy="256032"/>
          </a:xfrm>
          <a:prstGeom prst="roundRect">
            <a:avLst>
              <a:gd name="adj" fmla="val 4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0" y="4535424"/>
            <a:ext cx="868680" cy="256032"/>
          </a:xfrm>
          <a:prstGeom prst="rect">
            <a:avLst/>
          </a:prstGeom>
          <a:noFill/>
        </p:spPr>
        <p:txBody>
          <a:bodyPr wrap="square">
            <a:spAutoFit/>
          </a:bodyPr>
          <a:lstStyle/>
          <a:p>
            <a:pPr algn="ctr">
              <a:lnSpc>
                <a:spcPts val="1170"/>
              </a:lnSpc>
              <a:spcAft>
                <a:spcPts val="0"/>
              </a:spcAft>
              <a:defRPr sz="900" b="1">
                <a:solidFill>
                  <a:srgbClr val="FFFFFF"/>
                </a:solidFill>
                <a:latin typeface="微软雅黑"/>
              </a:defRPr>
            </a:pPr>
            <a:r>
              <a:t>风机频率</a:t>
            </a:r>
          </a:p>
        </p:txBody>
      </p:sp>
      <p:sp>
        <p:nvSpPr>
          <p:cNvPr id="33" name="TextBox 32"/>
          <p:cNvSpPr txBox="1"/>
          <p:nvPr/>
        </p:nvSpPr>
        <p:spPr>
          <a:xfrm>
            <a:off x="6217920" y="1188720"/>
            <a:ext cx="2743200" cy="365760"/>
          </a:xfrm>
          <a:prstGeom prst="rect">
            <a:avLst/>
          </a:prstGeom>
          <a:noFill/>
        </p:spPr>
        <p:txBody>
          <a:bodyPr wrap="square">
            <a:spAutoFit/>
          </a:bodyPr>
          <a:lstStyle/>
          <a:p>
            <a:pPr algn="l">
              <a:lnSpc>
                <a:spcPts val="2080"/>
              </a:lnSpc>
              <a:spcAft>
                <a:spcPts val="0"/>
              </a:spcAft>
              <a:defRPr sz="1600" b="1">
                <a:solidFill>
                  <a:srgbClr val="0F172A"/>
                </a:solidFill>
                <a:latin typeface="微软雅黑"/>
              </a:defRPr>
            </a:pPr>
            <a:r>
              <a:t>AI控制目标</a:t>
            </a:r>
          </a:p>
        </p:txBody>
      </p:sp>
      <p:sp>
        <p:nvSpPr>
          <p:cNvPr id="34" name="Rectangle 33"/>
          <p:cNvSpPr/>
          <p:nvPr/>
        </p:nvSpPr>
        <p:spPr>
          <a:xfrm>
            <a:off x="6217920" y="1508760"/>
            <a:ext cx="365760" cy="381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0" y="1645920"/>
            <a:ext cx="5029200" cy="164592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保证出水达标</a:t>
            </a:r>
          </a:p>
          <a:p>
            <a:pPr>
              <a:lnSpc>
                <a:spcPts val="1950"/>
              </a:lnSpc>
              <a:spcAft>
                <a:spcPts val="200"/>
              </a:spcAft>
              <a:defRPr sz="1300">
                <a:solidFill>
                  <a:srgbClr val="475569"/>
                </a:solidFill>
                <a:latin typeface="微软雅黑"/>
              </a:defRPr>
            </a:pPr>
            <a:r>
              <a:t>▸ 降低臭氧用量</a:t>
            </a:r>
          </a:p>
          <a:p>
            <a:pPr>
              <a:lnSpc>
                <a:spcPts val="1950"/>
              </a:lnSpc>
              <a:spcAft>
                <a:spcPts val="200"/>
              </a:spcAft>
              <a:defRPr sz="1300">
                <a:solidFill>
                  <a:srgbClr val="475569"/>
                </a:solidFill>
                <a:latin typeface="微软雅黑"/>
              </a:defRPr>
            </a:pPr>
            <a:r>
              <a:t>▸ 降低风机能耗</a:t>
            </a:r>
          </a:p>
          <a:p>
            <a:pPr>
              <a:lnSpc>
                <a:spcPts val="1950"/>
              </a:lnSpc>
              <a:spcAft>
                <a:spcPts val="200"/>
              </a:spcAft>
              <a:defRPr sz="1300">
                <a:solidFill>
                  <a:srgbClr val="475569"/>
                </a:solidFill>
                <a:latin typeface="微软雅黑"/>
              </a:defRPr>
            </a:pPr>
            <a:r>
              <a:t>▸ 减少人工调试</a:t>
            </a:r>
          </a:p>
          <a:p>
            <a:pPr>
              <a:lnSpc>
                <a:spcPts val="1950"/>
              </a:lnSpc>
              <a:spcAft>
                <a:spcPts val="200"/>
              </a:spcAft>
              <a:defRPr sz="1300">
                <a:solidFill>
                  <a:srgbClr val="475569"/>
                </a:solidFill>
                <a:latin typeface="微软雅黑"/>
              </a:defRPr>
            </a:pPr>
            <a:r>
              <a:t>▸ 提高系统稳定性</a:t>
            </a:r>
          </a:p>
          <a:p>
            <a:pPr>
              <a:lnSpc>
                <a:spcPts val="1950"/>
              </a:lnSpc>
              <a:spcAft>
                <a:spcPts val="200"/>
              </a:spcAft>
              <a:defRPr sz="1300">
                <a:solidFill>
                  <a:srgbClr val="475569"/>
                </a:solidFill>
                <a:latin typeface="微软雅黑"/>
              </a:defRPr>
            </a:pPr>
            <a:r>
              <a:t>▸ 发现异常工况</a:t>
            </a:r>
          </a:p>
        </p:txBody>
      </p:sp>
      <p:sp>
        <p:nvSpPr>
          <p:cNvPr id="36" name="TextBox 35"/>
          <p:cNvSpPr txBox="1"/>
          <p:nvPr/>
        </p:nvSpPr>
        <p:spPr>
          <a:xfrm>
            <a:off x="6217920" y="3474720"/>
            <a:ext cx="2743200" cy="365760"/>
          </a:xfrm>
          <a:prstGeom prst="rect">
            <a:avLst/>
          </a:prstGeom>
          <a:noFill/>
        </p:spPr>
        <p:txBody>
          <a:bodyPr wrap="square">
            <a:spAutoFit/>
          </a:bodyPr>
          <a:lstStyle/>
          <a:p>
            <a:pPr algn="l">
              <a:lnSpc>
                <a:spcPts val="2080"/>
              </a:lnSpc>
              <a:spcAft>
                <a:spcPts val="0"/>
              </a:spcAft>
              <a:defRPr sz="1600" b="1">
                <a:solidFill>
                  <a:srgbClr val="0F172A"/>
                </a:solidFill>
                <a:latin typeface="微软雅黑"/>
              </a:defRPr>
            </a:pPr>
            <a:r>
              <a:t>对外卖点</a:t>
            </a:r>
          </a:p>
        </p:txBody>
      </p:sp>
      <p:sp>
        <p:nvSpPr>
          <p:cNvPr id="37" name="Rectangle 36"/>
          <p:cNvSpPr/>
          <p:nvPr/>
        </p:nvSpPr>
        <p:spPr>
          <a:xfrm>
            <a:off x="6217920" y="3794760"/>
            <a:ext cx="36576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0" y="3931920"/>
            <a:ext cx="5029200" cy="18288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臭氧投加更精准，减少过量投加</a:t>
            </a:r>
          </a:p>
          <a:p>
            <a:pPr>
              <a:lnSpc>
                <a:spcPts val="1950"/>
              </a:lnSpc>
              <a:spcAft>
                <a:spcPts val="200"/>
              </a:spcAft>
              <a:defRPr sz="1300">
                <a:solidFill>
                  <a:srgbClr val="475569"/>
                </a:solidFill>
                <a:latin typeface="微软雅黑"/>
              </a:defRPr>
            </a:pPr>
            <a:r>
              <a:t>▸ 提高臭氧利用率</a:t>
            </a:r>
          </a:p>
          <a:p>
            <a:pPr>
              <a:lnSpc>
                <a:spcPts val="1950"/>
              </a:lnSpc>
              <a:spcAft>
                <a:spcPts val="200"/>
              </a:spcAft>
              <a:defRPr sz="1300">
                <a:solidFill>
                  <a:srgbClr val="475569"/>
                </a:solidFill>
                <a:latin typeface="微软雅黑"/>
              </a:defRPr>
            </a:pPr>
            <a:r>
              <a:t>▸ 曝气系统智能节能</a:t>
            </a:r>
          </a:p>
          <a:p>
            <a:pPr>
              <a:lnSpc>
                <a:spcPts val="1950"/>
              </a:lnSpc>
              <a:spcAft>
                <a:spcPts val="200"/>
              </a:spcAft>
              <a:defRPr sz="1300">
                <a:solidFill>
                  <a:srgbClr val="475569"/>
                </a:solidFill>
                <a:latin typeface="微软雅黑"/>
              </a:defRPr>
            </a:pPr>
            <a:r>
              <a:t>▸ 风机按需运行，降低电耗</a:t>
            </a:r>
          </a:p>
          <a:p>
            <a:pPr>
              <a:lnSpc>
                <a:spcPts val="1950"/>
              </a:lnSpc>
              <a:spcAft>
                <a:spcPts val="200"/>
              </a:spcAft>
              <a:defRPr sz="1300">
                <a:solidFill>
                  <a:srgbClr val="475569"/>
                </a:solidFill>
                <a:latin typeface="微软雅黑"/>
              </a:defRPr>
            </a:pPr>
            <a:r>
              <a:t>▸ 降低吨水处理成本</a:t>
            </a:r>
          </a:p>
        </p:txBody>
      </p:sp>
      <p:sp>
        <p:nvSpPr>
          <p:cNvPr id="39" name="TextBox 38"/>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AI水质预测与设备故障预测</a:t>
            </a:r>
          </a:p>
        </p:txBody>
      </p:sp>
      <p:sp>
        <p:nvSpPr>
          <p:cNvPr id="3" name="Rounded Rectangle 2"/>
          <p:cNvSpPr/>
          <p:nvPr/>
        </p:nvSpPr>
        <p:spPr>
          <a:xfrm>
            <a:off x="731520" y="1188720"/>
            <a:ext cx="5212080" cy="45720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5212080" cy="508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371600"/>
            <a:ext cx="475488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  AI水质预测</a:t>
            </a:r>
          </a:p>
        </p:txBody>
      </p:sp>
      <p:sp>
        <p:nvSpPr>
          <p:cNvPr id="6" name="TextBox 5"/>
          <p:cNvSpPr txBox="1"/>
          <p:nvPr/>
        </p:nvSpPr>
        <p:spPr>
          <a:xfrm>
            <a:off x="1005840" y="1828800"/>
            <a:ext cx="4663440" cy="457200"/>
          </a:xfrm>
          <a:prstGeom prst="rect">
            <a:avLst/>
          </a:prstGeom>
          <a:noFill/>
        </p:spPr>
        <p:txBody>
          <a:bodyPr wrap="square">
            <a:spAutoFit/>
          </a:bodyPr>
          <a:lstStyle/>
          <a:p>
            <a:pPr algn="l">
              <a:lnSpc>
                <a:spcPts val="1690"/>
              </a:lnSpc>
              <a:spcAft>
                <a:spcPts val="0"/>
              </a:spcAft>
              <a:defRPr sz="1300" b="0">
                <a:solidFill>
                  <a:srgbClr val="475569"/>
                </a:solidFill>
                <a:latin typeface="微软雅黑"/>
              </a:defRPr>
            </a:pPr>
            <a:r>
              <a:t>水处理系统最大痛点之一是"滞后性"——检测出来时问题已经发生了。</a:t>
            </a:r>
          </a:p>
        </p:txBody>
      </p:sp>
      <p:sp>
        <p:nvSpPr>
          <p:cNvPr id="7" name="TextBox 6"/>
          <p:cNvSpPr txBox="1"/>
          <p:nvPr/>
        </p:nvSpPr>
        <p:spPr>
          <a:xfrm>
            <a:off x="1005840" y="2468880"/>
            <a:ext cx="4663440" cy="18288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预测未来1/3/6小时出水水质</a:t>
            </a:r>
          </a:p>
          <a:p>
            <a:pPr>
              <a:lnSpc>
                <a:spcPts val="1950"/>
              </a:lnSpc>
              <a:spcAft>
                <a:spcPts val="200"/>
              </a:spcAft>
              <a:defRPr sz="1300">
                <a:solidFill>
                  <a:srgbClr val="475569"/>
                </a:solidFill>
                <a:latin typeface="微软雅黑"/>
              </a:defRPr>
            </a:pPr>
            <a:r>
              <a:t>• 提前预警COD超标风险</a:t>
            </a:r>
          </a:p>
          <a:p>
            <a:pPr>
              <a:lnSpc>
                <a:spcPts val="1950"/>
              </a:lnSpc>
              <a:spcAft>
                <a:spcPts val="200"/>
              </a:spcAft>
              <a:defRPr sz="1300">
                <a:solidFill>
                  <a:srgbClr val="475569"/>
                </a:solidFill>
                <a:latin typeface="微软雅黑"/>
              </a:defRPr>
            </a:pPr>
            <a:r>
              <a:t>• 提前提示臭氧投加不足</a:t>
            </a:r>
          </a:p>
          <a:p>
            <a:pPr>
              <a:lnSpc>
                <a:spcPts val="1950"/>
              </a:lnSpc>
              <a:spcAft>
                <a:spcPts val="200"/>
              </a:spcAft>
              <a:defRPr sz="1300">
                <a:solidFill>
                  <a:srgbClr val="475569"/>
                </a:solidFill>
                <a:latin typeface="微软雅黑"/>
              </a:defRPr>
            </a:pPr>
            <a:r>
              <a:t>• 提前提示催化剂活性下降</a:t>
            </a:r>
          </a:p>
          <a:p>
            <a:pPr>
              <a:lnSpc>
                <a:spcPts val="1950"/>
              </a:lnSpc>
              <a:spcAft>
                <a:spcPts val="200"/>
              </a:spcAft>
              <a:defRPr sz="1300">
                <a:solidFill>
                  <a:srgbClr val="475569"/>
                </a:solidFill>
                <a:latin typeface="微软雅黑"/>
              </a:defRPr>
            </a:pPr>
            <a:r>
              <a:t>• 提前提示进水冲击负荷</a:t>
            </a:r>
          </a:p>
        </p:txBody>
      </p:sp>
      <p:sp>
        <p:nvSpPr>
          <p:cNvPr id="8" name="TextBox 7"/>
          <p:cNvSpPr txBox="1"/>
          <p:nvPr/>
        </p:nvSpPr>
        <p:spPr>
          <a:xfrm>
            <a:off x="1005840" y="4389120"/>
            <a:ext cx="4663440" cy="365760"/>
          </a:xfrm>
          <a:prstGeom prst="rect">
            <a:avLst/>
          </a:prstGeom>
          <a:noFill/>
        </p:spPr>
        <p:txBody>
          <a:bodyPr wrap="square">
            <a:spAutoFit/>
          </a:bodyPr>
          <a:lstStyle/>
          <a:p>
            <a:pPr algn="l">
              <a:lnSpc>
                <a:spcPts val="1820"/>
              </a:lnSpc>
              <a:spcAft>
                <a:spcPts val="0"/>
              </a:spcAft>
              <a:defRPr sz="1400" b="1">
                <a:solidFill>
                  <a:srgbClr val="0F766E"/>
                </a:solidFill>
                <a:latin typeface="微软雅黑"/>
              </a:defRPr>
            </a:pPr>
            <a:r>
              <a:t>不是等超标后处理，而是提前干预</a:t>
            </a:r>
          </a:p>
        </p:txBody>
      </p:sp>
      <p:sp>
        <p:nvSpPr>
          <p:cNvPr id="9" name="Rounded Rectangle 8"/>
          <p:cNvSpPr/>
          <p:nvPr/>
        </p:nvSpPr>
        <p:spPr>
          <a:xfrm>
            <a:off x="6217920" y="1188720"/>
            <a:ext cx="5212080" cy="45720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88720"/>
            <a:ext cx="5212080" cy="508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371600"/>
            <a:ext cx="475488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  AI设备故障预测与运维</a:t>
            </a:r>
          </a:p>
        </p:txBody>
      </p:sp>
      <p:sp>
        <p:nvSpPr>
          <p:cNvPr id="12" name="TextBox 11"/>
          <p:cNvSpPr txBox="1"/>
          <p:nvPr/>
        </p:nvSpPr>
        <p:spPr>
          <a:xfrm>
            <a:off x="6492240" y="1828800"/>
            <a:ext cx="4663440" cy="457200"/>
          </a:xfrm>
          <a:prstGeom prst="rect">
            <a:avLst/>
          </a:prstGeom>
          <a:noFill/>
        </p:spPr>
        <p:txBody>
          <a:bodyPr wrap="square">
            <a:spAutoFit/>
          </a:bodyPr>
          <a:lstStyle/>
          <a:p>
            <a:pPr algn="l">
              <a:lnSpc>
                <a:spcPts val="1690"/>
              </a:lnSpc>
              <a:spcAft>
                <a:spcPts val="0"/>
              </a:spcAft>
              <a:defRPr sz="1300" b="0">
                <a:solidFill>
                  <a:srgbClr val="475569"/>
                </a:solidFill>
                <a:latin typeface="微软雅黑"/>
              </a:defRPr>
            </a:pPr>
            <a:r>
              <a:t>可预测：臭氧发生器、风机、泵、阀门、在线仪表、催化剂模块、曝气器堵塞等。</a:t>
            </a:r>
          </a:p>
        </p:txBody>
      </p:sp>
      <p:sp>
        <p:nvSpPr>
          <p:cNvPr id="13" name="TextBox 12"/>
          <p:cNvSpPr txBox="1"/>
          <p:nvPr/>
        </p:nvSpPr>
        <p:spPr>
          <a:xfrm>
            <a:off x="6492240" y="2468880"/>
            <a:ext cx="4663440" cy="1828800"/>
          </a:xfrm>
          <a:prstGeom prst="rect">
            <a:avLst/>
          </a:prstGeom>
          <a:noFill/>
        </p:spPr>
        <p:txBody>
          <a:bodyPr wrap="square">
            <a:spAutoFit/>
          </a:bodyPr>
          <a:lstStyle/>
          <a:p>
            <a:pPr>
              <a:lnSpc>
                <a:spcPts val="1950"/>
              </a:lnSpc>
              <a:spcAft>
                <a:spcPts val="200"/>
              </a:spcAft>
              <a:defRPr sz="1300">
                <a:solidFill>
                  <a:srgbClr val="475569"/>
                </a:solidFill>
                <a:latin typeface="微软雅黑"/>
              </a:defRPr>
            </a:pPr>
            <a:r>
              <a:t>• 设备异常报警</a:t>
            </a:r>
          </a:p>
          <a:p>
            <a:pPr>
              <a:lnSpc>
                <a:spcPts val="1950"/>
              </a:lnSpc>
              <a:spcAft>
                <a:spcPts val="200"/>
              </a:spcAft>
              <a:defRPr sz="1300">
                <a:solidFill>
                  <a:srgbClr val="475569"/>
                </a:solidFill>
                <a:latin typeface="微软雅黑"/>
              </a:defRPr>
            </a:pPr>
            <a:r>
              <a:t>• 故障原因判断</a:t>
            </a:r>
          </a:p>
          <a:p>
            <a:pPr>
              <a:lnSpc>
                <a:spcPts val="1950"/>
              </a:lnSpc>
              <a:spcAft>
                <a:spcPts val="200"/>
              </a:spcAft>
              <a:defRPr sz="1300">
                <a:solidFill>
                  <a:srgbClr val="475569"/>
                </a:solidFill>
                <a:latin typeface="微软雅黑"/>
              </a:defRPr>
            </a:pPr>
            <a:r>
              <a:t>• 维护周期预测</a:t>
            </a:r>
          </a:p>
          <a:p>
            <a:pPr>
              <a:lnSpc>
                <a:spcPts val="1950"/>
              </a:lnSpc>
              <a:spcAft>
                <a:spcPts val="200"/>
              </a:spcAft>
              <a:defRPr sz="1300">
                <a:solidFill>
                  <a:srgbClr val="475569"/>
                </a:solidFill>
                <a:latin typeface="微软雅黑"/>
              </a:defRPr>
            </a:pPr>
            <a:r>
              <a:t>• 备件更换提醒</a:t>
            </a:r>
          </a:p>
          <a:p>
            <a:pPr>
              <a:lnSpc>
                <a:spcPts val="1950"/>
              </a:lnSpc>
              <a:spcAft>
                <a:spcPts val="200"/>
              </a:spcAft>
              <a:defRPr sz="1300">
                <a:solidFill>
                  <a:srgbClr val="475569"/>
                </a:solidFill>
                <a:latin typeface="微软雅黑"/>
              </a:defRPr>
            </a:pPr>
            <a:r>
              <a:t>• 运维工单自动生成</a:t>
            </a:r>
          </a:p>
          <a:p>
            <a:pPr>
              <a:lnSpc>
                <a:spcPts val="1950"/>
              </a:lnSpc>
              <a:spcAft>
                <a:spcPts val="200"/>
              </a:spcAft>
              <a:defRPr sz="1300">
                <a:solidFill>
                  <a:srgbClr val="475569"/>
                </a:solidFill>
                <a:latin typeface="微软雅黑"/>
              </a:defRPr>
            </a:pPr>
            <a:r>
              <a:t>• 远程专家诊断</a:t>
            </a:r>
          </a:p>
        </p:txBody>
      </p:sp>
      <p:sp>
        <p:nvSpPr>
          <p:cNvPr id="14" name="TextBox 13"/>
          <p:cNvSpPr txBox="1"/>
          <p:nvPr/>
        </p:nvSpPr>
        <p:spPr>
          <a:xfrm>
            <a:off x="6492240" y="4389120"/>
            <a:ext cx="4663440" cy="365760"/>
          </a:xfrm>
          <a:prstGeom prst="rect">
            <a:avLst/>
          </a:prstGeom>
          <a:noFill/>
        </p:spPr>
        <p:txBody>
          <a:bodyPr wrap="square">
            <a:spAutoFit/>
          </a:bodyPr>
          <a:lstStyle/>
          <a:p>
            <a:pPr algn="l">
              <a:lnSpc>
                <a:spcPts val="1820"/>
              </a:lnSpc>
              <a:spcAft>
                <a:spcPts val="0"/>
              </a:spcAft>
              <a:defRPr sz="1400" b="1">
                <a:solidFill>
                  <a:srgbClr val="EF4444"/>
                </a:solidFill>
                <a:latin typeface="微软雅黑"/>
              </a:defRPr>
            </a:pPr>
            <a:r>
              <a:t>减少停机 · 降低巡检 · 减少现场人员</a:t>
            </a:r>
          </a:p>
        </p:txBody>
      </p:sp>
      <p:sp>
        <p:nvSpPr>
          <p:cNvPr id="15" name="TextBox 14"/>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194560"/>
            <a:ext cx="10058400" cy="365760"/>
          </a:xfrm>
          <a:prstGeom prst="rect">
            <a:avLst/>
          </a:prstGeom>
          <a:noFill/>
        </p:spPr>
        <p:txBody>
          <a:bodyPr wrap="square">
            <a:spAutoFit/>
          </a:bodyPr>
          <a:lstStyle/>
          <a:p>
            <a:pPr algn="ctr">
              <a:lnSpc>
                <a:spcPts val="1690"/>
              </a:lnSpc>
              <a:spcAft>
                <a:spcPts val="0"/>
              </a:spcAft>
              <a:defRPr sz="1300" b="1">
                <a:solidFill>
                  <a:srgbClr val="F59E0B"/>
                </a:solidFill>
                <a:latin typeface="微软雅黑"/>
              </a:defRPr>
            </a:pPr>
            <a:r>
              <a:t>IMPLEMENTATION</a:t>
            </a:r>
          </a:p>
        </p:txBody>
      </p:sp>
      <p:sp>
        <p:nvSpPr>
          <p:cNvPr id="3" name="TextBox 2"/>
          <p:cNvSpPr txBox="1"/>
          <p:nvPr/>
        </p:nvSpPr>
        <p:spPr>
          <a:xfrm>
            <a:off x="914400" y="2651760"/>
            <a:ext cx="10058400" cy="731520"/>
          </a:xfrm>
          <a:prstGeom prst="rect">
            <a:avLst/>
          </a:prstGeom>
          <a:noFill/>
        </p:spPr>
        <p:txBody>
          <a:bodyPr wrap="square">
            <a:spAutoFit/>
          </a:bodyPr>
          <a:lstStyle/>
          <a:p>
            <a:pPr algn="ctr">
              <a:lnSpc>
                <a:spcPts val="5200"/>
              </a:lnSpc>
              <a:spcAft>
                <a:spcPts val="0"/>
              </a:spcAft>
              <a:defRPr sz="4000" b="1">
                <a:solidFill>
                  <a:srgbClr val="FFFFFF"/>
                </a:solidFill>
                <a:latin typeface="微软雅黑"/>
              </a:defRPr>
            </a:pPr>
            <a:r>
              <a:t>短中长期实施路径</a:t>
            </a:r>
          </a:p>
        </p:txBody>
      </p:sp>
      <p:sp>
        <p:nvSpPr>
          <p:cNvPr id="4" name="TextBox 3"/>
          <p:cNvSpPr txBox="1"/>
          <p:nvPr/>
        </p:nvSpPr>
        <p:spPr>
          <a:xfrm>
            <a:off x="914400" y="3566160"/>
            <a:ext cx="10058400" cy="365760"/>
          </a:xfrm>
          <a:prstGeom prst="rect">
            <a:avLst/>
          </a:prstGeom>
          <a:noFill/>
        </p:spPr>
        <p:txBody>
          <a:bodyPr wrap="square">
            <a:spAutoFit/>
          </a:bodyPr>
          <a:lstStyle/>
          <a:p>
            <a:pPr algn="ctr">
              <a:lnSpc>
                <a:spcPts val="2080"/>
              </a:lnSpc>
              <a:spcAft>
                <a:spcPts val="0"/>
              </a:spcAft>
              <a:defRPr sz="1600" b="0">
                <a:solidFill>
                  <a:srgbClr val="94A3B8"/>
                </a:solidFill>
                <a:latin typeface="微软雅黑"/>
              </a:defRPr>
            </a:pPr>
            <a:r>
              <a:t>哪些能三个月做出来？哪些需要一年？哪些是长期平台能力？</a:t>
            </a:r>
          </a:p>
        </p:txBody>
      </p:sp>
      <p:sp>
        <p:nvSpPr>
          <p:cNvPr id="5" name="TextBox 4"/>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三阶段实施规划</a:t>
            </a:r>
          </a:p>
        </p:txBody>
      </p:sp>
      <p:sp>
        <p:nvSpPr>
          <p:cNvPr id="3" name="Rounded Rectangle 2"/>
          <p:cNvSpPr/>
          <p:nvPr/>
        </p:nvSpPr>
        <p:spPr>
          <a:xfrm>
            <a:off x="457200" y="1188720"/>
            <a:ext cx="3474720" cy="50292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88720"/>
            <a:ext cx="347472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3108960" cy="274320"/>
          </a:xfrm>
          <a:prstGeom prst="rect">
            <a:avLst/>
          </a:prstGeom>
          <a:noFill/>
        </p:spPr>
        <p:txBody>
          <a:bodyPr wrap="square">
            <a:spAutoFit/>
          </a:bodyPr>
          <a:lstStyle/>
          <a:p>
            <a:pPr algn="l">
              <a:lnSpc>
                <a:spcPts val="1560"/>
              </a:lnSpc>
              <a:spcAft>
                <a:spcPts val="0"/>
              </a:spcAft>
              <a:defRPr sz="1200" b="1">
                <a:solidFill>
                  <a:srgbClr val="22C55E"/>
                </a:solidFill>
                <a:latin typeface="微软雅黑"/>
              </a:defRPr>
            </a:pPr>
            <a:r>
              <a:t>短期 0-3个月</a:t>
            </a:r>
          </a:p>
        </p:txBody>
      </p:sp>
      <p:sp>
        <p:nvSpPr>
          <p:cNvPr id="6" name="TextBox 5"/>
          <p:cNvSpPr txBox="1"/>
          <p:nvPr/>
        </p:nvSpPr>
        <p:spPr>
          <a:xfrm>
            <a:off x="640080" y="1691640"/>
            <a:ext cx="310896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低成本试点，形成可展示成果</a:t>
            </a:r>
          </a:p>
        </p:txBody>
      </p:sp>
      <p:sp>
        <p:nvSpPr>
          <p:cNvPr id="7" name="TextBox 6"/>
          <p:cNvSpPr txBox="1"/>
          <p:nvPr/>
        </p:nvSpPr>
        <p:spPr>
          <a:xfrm>
            <a:off x="640080" y="2194560"/>
            <a:ext cx="3108960" cy="3657600"/>
          </a:xfrm>
          <a:prstGeom prst="rect">
            <a:avLst/>
          </a:prstGeom>
          <a:noFill/>
        </p:spPr>
        <p:txBody>
          <a:bodyPr wrap="square">
            <a:spAutoFit/>
          </a:bodyPr>
          <a:lstStyle/>
          <a:p>
            <a:pPr>
              <a:lnSpc>
                <a:spcPts val="1800"/>
              </a:lnSpc>
              <a:spcAft>
                <a:spcPts val="200"/>
              </a:spcAft>
              <a:defRPr sz="1200">
                <a:solidFill>
                  <a:srgbClr val="475569"/>
                </a:solidFill>
                <a:latin typeface="微软雅黑"/>
              </a:defRPr>
            </a:pPr>
            <a:r>
              <a:t>• 梳理资料建立AI知识库</a:t>
            </a:r>
          </a:p>
          <a:p>
            <a:pPr>
              <a:lnSpc>
                <a:spcPts val="1800"/>
              </a:lnSpc>
              <a:spcAft>
                <a:spcPts val="200"/>
              </a:spcAft>
              <a:defRPr sz="1200">
                <a:solidFill>
                  <a:srgbClr val="475569"/>
                </a:solidFill>
                <a:latin typeface="微软雅黑"/>
              </a:defRPr>
            </a:pPr>
            <a:r>
              <a:t>• 搭建AI营销内容生成体系</a:t>
            </a:r>
          </a:p>
          <a:p>
            <a:pPr>
              <a:lnSpc>
                <a:spcPts val="1800"/>
              </a:lnSpc>
              <a:spcAft>
                <a:spcPts val="200"/>
              </a:spcAft>
              <a:defRPr sz="1200">
                <a:solidFill>
                  <a:srgbClr val="475569"/>
                </a:solidFill>
                <a:latin typeface="微软雅黑"/>
              </a:defRPr>
            </a:pPr>
            <a:r>
              <a:t>• 整理案例形成标准化话术</a:t>
            </a:r>
          </a:p>
          <a:p>
            <a:pPr>
              <a:lnSpc>
                <a:spcPts val="1800"/>
              </a:lnSpc>
              <a:spcAft>
                <a:spcPts val="200"/>
              </a:spcAft>
              <a:defRPr sz="1200">
                <a:solidFill>
                  <a:srgbClr val="475569"/>
                </a:solidFill>
                <a:latin typeface="微软雅黑"/>
              </a:defRPr>
            </a:pPr>
            <a:r>
              <a:t>• 选一套设备加装数据采集</a:t>
            </a:r>
          </a:p>
          <a:p>
            <a:pPr>
              <a:lnSpc>
                <a:spcPts val="1800"/>
              </a:lnSpc>
              <a:spcAft>
                <a:spcPts val="200"/>
              </a:spcAft>
              <a:defRPr sz="1200">
                <a:solidFill>
                  <a:srgbClr val="475569"/>
                </a:solidFill>
                <a:latin typeface="微软雅黑"/>
              </a:defRPr>
            </a:pPr>
            <a:r>
              <a:t>• 搭建设备云端看板</a:t>
            </a:r>
          </a:p>
          <a:p>
            <a:pPr>
              <a:lnSpc>
                <a:spcPts val="1800"/>
              </a:lnSpc>
              <a:spcAft>
                <a:spcPts val="200"/>
              </a:spcAft>
              <a:defRPr sz="1200">
                <a:solidFill>
                  <a:srgbClr val="475569"/>
                </a:solidFill>
                <a:latin typeface="微软雅黑"/>
              </a:defRPr>
            </a:pPr>
            <a:r>
              <a:t>• 形成智能控制柜概念方案</a:t>
            </a:r>
          </a:p>
          <a:p>
            <a:pPr>
              <a:lnSpc>
                <a:spcPts val="1800"/>
              </a:lnSpc>
              <a:spcAft>
                <a:spcPts val="200"/>
              </a:spcAft>
              <a:defRPr sz="1200">
                <a:solidFill>
                  <a:srgbClr val="475569"/>
                </a:solidFill>
                <a:latin typeface="微软雅黑"/>
              </a:defRPr>
            </a:pPr>
            <a:r>
              <a:t>• 做3D工艺流程演示视频</a:t>
            </a:r>
          </a:p>
        </p:txBody>
      </p:sp>
      <p:sp>
        <p:nvSpPr>
          <p:cNvPr id="8" name="Rounded Rectangle 7"/>
          <p:cNvSpPr/>
          <p:nvPr/>
        </p:nvSpPr>
        <p:spPr>
          <a:xfrm>
            <a:off x="4251960" y="1188720"/>
            <a:ext cx="3474720" cy="50292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51960" y="1188720"/>
            <a:ext cx="347472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371600"/>
            <a:ext cx="3108960" cy="274320"/>
          </a:xfrm>
          <a:prstGeom prst="rect">
            <a:avLst/>
          </a:prstGeom>
          <a:noFill/>
        </p:spPr>
        <p:txBody>
          <a:bodyPr wrap="square">
            <a:spAutoFit/>
          </a:bodyPr>
          <a:lstStyle/>
          <a:p>
            <a:pPr algn="l">
              <a:lnSpc>
                <a:spcPts val="1560"/>
              </a:lnSpc>
              <a:spcAft>
                <a:spcPts val="0"/>
              </a:spcAft>
              <a:defRPr sz="1200" b="1">
                <a:solidFill>
                  <a:srgbClr val="F59E0B"/>
                </a:solidFill>
                <a:latin typeface="微软雅黑"/>
              </a:defRPr>
            </a:pPr>
            <a:r>
              <a:t>中期 3-12个月</a:t>
            </a:r>
          </a:p>
        </p:txBody>
      </p:sp>
      <p:sp>
        <p:nvSpPr>
          <p:cNvPr id="11" name="TextBox 10"/>
          <p:cNvSpPr txBox="1"/>
          <p:nvPr/>
        </p:nvSpPr>
        <p:spPr>
          <a:xfrm>
            <a:off x="4434840" y="1691640"/>
            <a:ext cx="310896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做出试点项目，验证节能效果</a:t>
            </a:r>
          </a:p>
        </p:txBody>
      </p:sp>
      <p:sp>
        <p:nvSpPr>
          <p:cNvPr id="12" name="TextBox 11"/>
          <p:cNvSpPr txBox="1"/>
          <p:nvPr/>
        </p:nvSpPr>
        <p:spPr>
          <a:xfrm>
            <a:off x="4434840" y="2194560"/>
            <a:ext cx="3108960" cy="3657600"/>
          </a:xfrm>
          <a:prstGeom prst="rect">
            <a:avLst/>
          </a:prstGeom>
          <a:noFill/>
        </p:spPr>
        <p:txBody>
          <a:bodyPr wrap="square">
            <a:spAutoFit/>
          </a:bodyPr>
          <a:lstStyle/>
          <a:p>
            <a:pPr>
              <a:lnSpc>
                <a:spcPts val="1800"/>
              </a:lnSpc>
              <a:spcAft>
                <a:spcPts val="200"/>
              </a:spcAft>
              <a:defRPr sz="1200">
                <a:solidFill>
                  <a:srgbClr val="475569"/>
                </a:solidFill>
                <a:latin typeface="微软雅黑"/>
              </a:defRPr>
            </a:pPr>
            <a:r>
              <a:t>• 找实际项目作为AI控制试点</a:t>
            </a:r>
          </a:p>
          <a:p>
            <a:pPr>
              <a:lnSpc>
                <a:spcPts val="1800"/>
              </a:lnSpc>
              <a:spcAft>
                <a:spcPts val="200"/>
              </a:spcAft>
              <a:defRPr sz="1200">
                <a:solidFill>
                  <a:srgbClr val="475569"/>
                </a:solidFill>
                <a:latin typeface="微软雅黑"/>
              </a:defRPr>
            </a:pPr>
            <a:r>
              <a:t>• 接入在线水质/电耗/流量数据</a:t>
            </a:r>
          </a:p>
          <a:p>
            <a:pPr>
              <a:lnSpc>
                <a:spcPts val="1800"/>
              </a:lnSpc>
              <a:spcAft>
                <a:spcPts val="200"/>
              </a:spcAft>
              <a:defRPr sz="1200">
                <a:solidFill>
                  <a:srgbClr val="475569"/>
                </a:solidFill>
                <a:latin typeface="微软雅黑"/>
              </a:defRPr>
            </a:pPr>
            <a:r>
              <a:t>• 建立臭氧投加和曝气控制模型</a:t>
            </a:r>
          </a:p>
          <a:p>
            <a:pPr>
              <a:lnSpc>
                <a:spcPts val="1800"/>
              </a:lnSpc>
              <a:spcAft>
                <a:spcPts val="200"/>
              </a:spcAft>
              <a:defRPr sz="1200">
                <a:solidFill>
                  <a:srgbClr val="475569"/>
                </a:solidFill>
                <a:latin typeface="微软雅黑"/>
              </a:defRPr>
            </a:pPr>
            <a:r>
              <a:t>• 做运行数据对比</a:t>
            </a:r>
          </a:p>
          <a:p>
            <a:pPr>
              <a:lnSpc>
                <a:spcPts val="1800"/>
              </a:lnSpc>
              <a:spcAft>
                <a:spcPts val="200"/>
              </a:spcAft>
              <a:defRPr sz="1200">
                <a:solidFill>
                  <a:srgbClr val="475569"/>
                </a:solidFill>
                <a:latin typeface="微软雅黑"/>
              </a:defRPr>
            </a:pPr>
            <a:r>
              <a:t>• 形成节能降耗评估报告</a:t>
            </a:r>
          </a:p>
          <a:p>
            <a:pPr>
              <a:lnSpc>
                <a:spcPts val="1800"/>
              </a:lnSpc>
              <a:spcAft>
                <a:spcPts val="200"/>
              </a:spcAft>
              <a:defRPr sz="1200">
                <a:solidFill>
                  <a:srgbClr val="475569"/>
                </a:solidFill>
                <a:latin typeface="微软雅黑"/>
              </a:defRPr>
            </a:pPr>
            <a:r>
              <a:t>• 打磨AI智能臭氧设备产品</a:t>
            </a:r>
          </a:p>
          <a:p>
            <a:pPr>
              <a:lnSpc>
                <a:spcPts val="1800"/>
              </a:lnSpc>
              <a:spcAft>
                <a:spcPts val="200"/>
              </a:spcAft>
              <a:defRPr sz="1200">
                <a:solidFill>
                  <a:srgbClr val="475569"/>
                </a:solidFill>
                <a:latin typeface="微软雅黑"/>
              </a:defRPr>
            </a:pPr>
            <a:r>
              <a:t>• 建立远程运维平台基础版</a:t>
            </a:r>
          </a:p>
        </p:txBody>
      </p:sp>
      <p:sp>
        <p:nvSpPr>
          <p:cNvPr id="13" name="Rounded Rectangle 12"/>
          <p:cNvSpPr/>
          <p:nvPr/>
        </p:nvSpPr>
        <p:spPr>
          <a:xfrm>
            <a:off x="8046720" y="1188720"/>
            <a:ext cx="3474720" cy="50292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188720"/>
            <a:ext cx="3474720"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71600"/>
            <a:ext cx="3108960" cy="274320"/>
          </a:xfrm>
          <a:prstGeom prst="rect">
            <a:avLst/>
          </a:prstGeom>
          <a:noFill/>
        </p:spPr>
        <p:txBody>
          <a:bodyPr wrap="square">
            <a:spAutoFit/>
          </a:bodyPr>
          <a:lstStyle/>
          <a:p>
            <a:pPr algn="l">
              <a:lnSpc>
                <a:spcPts val="1560"/>
              </a:lnSpc>
              <a:spcAft>
                <a:spcPts val="0"/>
              </a:spcAft>
              <a:defRPr sz="1200" b="1">
                <a:solidFill>
                  <a:srgbClr val="8B5CF6"/>
                </a:solidFill>
                <a:latin typeface="微软雅黑"/>
              </a:defRPr>
            </a:pPr>
            <a:r>
              <a:t>长期 1-3年</a:t>
            </a:r>
          </a:p>
        </p:txBody>
      </p:sp>
      <p:sp>
        <p:nvSpPr>
          <p:cNvPr id="16" name="TextBox 15"/>
          <p:cNvSpPr txBox="1"/>
          <p:nvPr/>
        </p:nvSpPr>
        <p:spPr>
          <a:xfrm>
            <a:off x="8229600" y="1691640"/>
            <a:ext cx="310896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升级为"环保装备+AI运维服务商"</a:t>
            </a:r>
          </a:p>
        </p:txBody>
      </p:sp>
      <p:sp>
        <p:nvSpPr>
          <p:cNvPr id="17" name="TextBox 16"/>
          <p:cNvSpPr txBox="1"/>
          <p:nvPr/>
        </p:nvSpPr>
        <p:spPr>
          <a:xfrm>
            <a:off x="8229600" y="2194560"/>
            <a:ext cx="3108960" cy="3657600"/>
          </a:xfrm>
          <a:prstGeom prst="rect">
            <a:avLst/>
          </a:prstGeom>
          <a:noFill/>
        </p:spPr>
        <p:txBody>
          <a:bodyPr wrap="square">
            <a:spAutoFit/>
          </a:bodyPr>
          <a:lstStyle/>
          <a:p>
            <a:pPr>
              <a:lnSpc>
                <a:spcPts val="1800"/>
              </a:lnSpc>
              <a:spcAft>
                <a:spcPts val="200"/>
              </a:spcAft>
              <a:defRPr sz="1200">
                <a:solidFill>
                  <a:srgbClr val="475569"/>
                </a:solidFill>
                <a:latin typeface="微软雅黑"/>
              </a:defRPr>
            </a:pPr>
            <a:r>
              <a:t>• 建立多项目数据样本库</a:t>
            </a:r>
          </a:p>
          <a:p>
            <a:pPr>
              <a:lnSpc>
                <a:spcPts val="1800"/>
              </a:lnSpc>
              <a:spcAft>
                <a:spcPts val="200"/>
              </a:spcAft>
              <a:defRPr sz="1200">
                <a:solidFill>
                  <a:srgbClr val="475569"/>
                </a:solidFill>
                <a:latin typeface="微软雅黑"/>
              </a:defRPr>
            </a:pPr>
            <a:r>
              <a:t>• 建立不同水质类型AI模型</a:t>
            </a:r>
          </a:p>
          <a:p>
            <a:pPr>
              <a:lnSpc>
                <a:spcPts val="1800"/>
              </a:lnSpc>
              <a:spcAft>
                <a:spcPts val="200"/>
              </a:spcAft>
              <a:defRPr sz="1200">
                <a:solidFill>
                  <a:srgbClr val="475569"/>
                </a:solidFill>
                <a:latin typeface="微软雅黑"/>
              </a:defRPr>
            </a:pPr>
            <a:r>
              <a:t>• 形成标准化智能控制系统</a:t>
            </a:r>
          </a:p>
          <a:p>
            <a:pPr>
              <a:lnSpc>
                <a:spcPts val="1800"/>
              </a:lnSpc>
              <a:spcAft>
                <a:spcPts val="200"/>
              </a:spcAft>
              <a:defRPr sz="1200">
                <a:solidFill>
                  <a:srgbClr val="475569"/>
                </a:solidFill>
                <a:latin typeface="微软雅黑"/>
              </a:defRPr>
            </a:pPr>
            <a:r>
              <a:t>• 打造智慧水处理运维平台</a:t>
            </a:r>
          </a:p>
          <a:p>
            <a:pPr>
              <a:lnSpc>
                <a:spcPts val="1800"/>
              </a:lnSpc>
              <a:spcAft>
                <a:spcPts val="200"/>
              </a:spcAft>
              <a:defRPr sz="1200">
                <a:solidFill>
                  <a:srgbClr val="475569"/>
                </a:solidFill>
                <a:latin typeface="微软雅黑"/>
              </a:defRPr>
            </a:pPr>
            <a:r>
              <a:t>• 推出按年收费远程运维服务</a:t>
            </a:r>
          </a:p>
          <a:p>
            <a:pPr>
              <a:lnSpc>
                <a:spcPts val="1800"/>
              </a:lnSpc>
              <a:spcAft>
                <a:spcPts val="200"/>
              </a:spcAft>
              <a:defRPr sz="1200">
                <a:solidFill>
                  <a:srgbClr val="475569"/>
                </a:solidFill>
                <a:latin typeface="微软雅黑"/>
              </a:defRPr>
            </a:pPr>
            <a:r>
              <a:t>• 建设数字孪生污水站</a:t>
            </a:r>
          </a:p>
          <a:p>
            <a:pPr>
              <a:lnSpc>
                <a:spcPts val="1800"/>
              </a:lnSpc>
              <a:spcAft>
                <a:spcPts val="200"/>
              </a:spcAft>
              <a:defRPr sz="1200">
                <a:solidFill>
                  <a:srgbClr val="475569"/>
                </a:solidFill>
                <a:latin typeface="微软雅黑"/>
              </a:defRPr>
            </a:pPr>
            <a:r>
              <a:t>• 形成行业合作生态</a:t>
            </a:r>
          </a:p>
        </p:txBody>
      </p:sp>
      <p:sp>
        <p:nvSpPr>
          <p:cNvPr id="18" name="TextBox 17"/>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各阶段宣传口径</a:t>
            </a:r>
          </a:p>
        </p:txBody>
      </p:sp>
      <p:sp>
        <p:nvSpPr>
          <p:cNvPr id="3" name="Rounded Rectangle 2"/>
          <p:cNvSpPr/>
          <p:nvPr/>
        </p:nvSpPr>
        <p:spPr>
          <a:xfrm>
            <a:off x="731520" y="1188720"/>
            <a:ext cx="5212080" cy="201168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52120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371600"/>
            <a:ext cx="4754880" cy="365760"/>
          </a:xfrm>
          <a:prstGeom prst="rect">
            <a:avLst/>
          </a:prstGeom>
          <a:noFill/>
        </p:spPr>
        <p:txBody>
          <a:bodyPr wrap="square">
            <a:spAutoFit/>
          </a:bodyPr>
          <a:lstStyle/>
          <a:p>
            <a:pPr algn="l">
              <a:lnSpc>
                <a:spcPts val="1950"/>
              </a:lnSpc>
              <a:spcAft>
                <a:spcPts val="0"/>
              </a:spcAft>
              <a:defRPr sz="1500" b="1">
                <a:solidFill>
                  <a:srgbClr val="1E293B"/>
                </a:solidFill>
                <a:latin typeface="微软雅黑"/>
              </a:defRPr>
            </a:pPr>
          </a:p>
        </p:txBody>
      </p:sp>
      <p:sp>
        <p:nvSpPr>
          <p:cNvPr id="6" name="TextBox 5"/>
          <p:cNvSpPr txBox="1"/>
          <p:nvPr/>
        </p:nvSpPr>
        <p:spPr>
          <a:xfrm>
            <a:off x="1005840" y="1371600"/>
            <a:ext cx="1828800" cy="274320"/>
          </a:xfrm>
          <a:prstGeom prst="rect">
            <a:avLst/>
          </a:prstGeom>
          <a:noFill/>
        </p:spPr>
        <p:txBody>
          <a:bodyPr wrap="square">
            <a:spAutoFit/>
          </a:bodyPr>
          <a:lstStyle/>
          <a:p>
            <a:pPr algn="l">
              <a:lnSpc>
                <a:spcPts val="1820"/>
              </a:lnSpc>
              <a:spcAft>
                <a:spcPts val="0"/>
              </a:spcAft>
              <a:defRPr sz="1400" b="1">
                <a:solidFill>
                  <a:srgbClr val="22C55E"/>
                </a:solidFill>
                <a:latin typeface="微软雅黑"/>
              </a:defRPr>
            </a:pPr>
            <a:r>
              <a:t>短期口径</a:t>
            </a:r>
          </a:p>
        </p:txBody>
      </p:sp>
      <p:sp>
        <p:nvSpPr>
          <p:cNvPr id="7" name="TextBox 6"/>
          <p:cNvSpPr txBox="1"/>
          <p:nvPr/>
        </p:nvSpPr>
        <p:spPr>
          <a:xfrm>
            <a:off x="1005840" y="1737360"/>
            <a:ext cx="4663440" cy="128016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"睿美达正在推动超微纳米曝气臭氧水处理装备从传统设备向智能化装备升级，实现远程监控、数据分析和智能调控。"</a:t>
            </a:r>
          </a:p>
        </p:txBody>
      </p:sp>
      <p:sp>
        <p:nvSpPr>
          <p:cNvPr id="8" name="Rounded Rectangle 7"/>
          <p:cNvSpPr/>
          <p:nvPr/>
        </p:nvSpPr>
        <p:spPr>
          <a:xfrm>
            <a:off x="6217920" y="1188720"/>
            <a:ext cx="5212080" cy="201168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188720"/>
            <a:ext cx="521208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371600"/>
            <a:ext cx="4754880" cy="365760"/>
          </a:xfrm>
          <a:prstGeom prst="rect">
            <a:avLst/>
          </a:prstGeom>
          <a:noFill/>
        </p:spPr>
        <p:txBody>
          <a:bodyPr wrap="square">
            <a:spAutoFit/>
          </a:bodyPr>
          <a:lstStyle/>
          <a:p>
            <a:pPr algn="l">
              <a:lnSpc>
                <a:spcPts val="1950"/>
              </a:lnSpc>
              <a:spcAft>
                <a:spcPts val="0"/>
              </a:spcAft>
              <a:defRPr sz="1500" b="1">
                <a:solidFill>
                  <a:srgbClr val="1E293B"/>
                </a:solidFill>
                <a:latin typeface="微软雅黑"/>
              </a:defRPr>
            </a:pPr>
          </a:p>
        </p:txBody>
      </p:sp>
      <p:sp>
        <p:nvSpPr>
          <p:cNvPr id="11" name="TextBox 10"/>
          <p:cNvSpPr txBox="1"/>
          <p:nvPr/>
        </p:nvSpPr>
        <p:spPr>
          <a:xfrm>
            <a:off x="6492240" y="1371600"/>
            <a:ext cx="1828800" cy="274320"/>
          </a:xfrm>
          <a:prstGeom prst="rect">
            <a:avLst/>
          </a:prstGeom>
          <a:noFill/>
        </p:spPr>
        <p:txBody>
          <a:bodyPr wrap="square">
            <a:spAutoFit/>
          </a:bodyPr>
          <a:lstStyle/>
          <a:p>
            <a:pPr algn="l">
              <a:lnSpc>
                <a:spcPts val="1820"/>
              </a:lnSpc>
              <a:spcAft>
                <a:spcPts val="0"/>
              </a:spcAft>
              <a:defRPr sz="1400" b="1">
                <a:solidFill>
                  <a:srgbClr val="F59E0B"/>
                </a:solidFill>
                <a:latin typeface="微软雅黑"/>
              </a:defRPr>
            </a:pPr>
            <a:r>
              <a:t>中期口径</a:t>
            </a:r>
          </a:p>
        </p:txBody>
      </p:sp>
      <p:sp>
        <p:nvSpPr>
          <p:cNvPr id="12" name="TextBox 11"/>
          <p:cNvSpPr txBox="1"/>
          <p:nvPr/>
        </p:nvSpPr>
        <p:spPr>
          <a:xfrm>
            <a:off x="6492240" y="1737360"/>
            <a:ext cx="4663440" cy="128016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"通过在线监测和AI算法优化，系统可根据水质负荷变化动态调整臭氧投加和曝气强度，在保障出水稳定达标的同时，降低运行能耗和药剂消耗。"</a:t>
            </a:r>
          </a:p>
        </p:txBody>
      </p:sp>
      <p:sp>
        <p:nvSpPr>
          <p:cNvPr id="13" name="Rounded Rectangle 12"/>
          <p:cNvSpPr/>
          <p:nvPr/>
        </p:nvSpPr>
        <p:spPr>
          <a:xfrm>
            <a:off x="731520" y="3657600"/>
            <a:ext cx="10698480" cy="1371600"/>
          </a:xfrm>
          <a:prstGeom prst="roundRect">
            <a:avLst>
              <a:gd name="adj" fmla="val 4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840480"/>
            <a:ext cx="2743200" cy="274320"/>
          </a:xfrm>
          <a:prstGeom prst="rect">
            <a:avLst/>
          </a:prstGeom>
          <a:noFill/>
        </p:spPr>
        <p:txBody>
          <a:bodyPr wrap="square">
            <a:spAutoFit/>
          </a:bodyPr>
          <a:lstStyle/>
          <a:p>
            <a:pPr algn="l">
              <a:lnSpc>
                <a:spcPts val="1950"/>
              </a:lnSpc>
              <a:spcAft>
                <a:spcPts val="0"/>
              </a:spcAft>
              <a:defRPr sz="1500" b="1">
                <a:solidFill>
                  <a:srgbClr val="FFFFFF"/>
                </a:solidFill>
                <a:latin typeface="微软雅黑"/>
              </a:defRPr>
            </a:pPr>
            <a:r>
              <a:t>⚠️  节能比例表达注意</a:t>
            </a:r>
          </a:p>
        </p:txBody>
      </p:sp>
      <p:sp>
        <p:nvSpPr>
          <p:cNvPr id="15" name="TextBox 14"/>
          <p:cNvSpPr txBox="1"/>
          <p:nvPr/>
        </p:nvSpPr>
        <p:spPr>
          <a:xfrm>
            <a:off x="1097280" y="4206240"/>
            <a:ext cx="10058400" cy="640080"/>
          </a:xfrm>
          <a:prstGeom prst="rect">
            <a:avLst/>
          </a:prstGeom>
          <a:noFill/>
        </p:spPr>
        <p:txBody>
          <a:bodyPr wrap="square">
            <a:spAutoFit/>
          </a:bodyPr>
          <a:lstStyle/>
          <a:p>
            <a:pPr algn="l">
              <a:lnSpc>
                <a:spcPts val="2240"/>
              </a:lnSpc>
              <a:spcAft>
                <a:spcPts val="0"/>
              </a:spcAft>
              <a:defRPr sz="1400" b="0">
                <a:solidFill>
                  <a:srgbClr val="FFFFFF"/>
                </a:solidFill>
                <a:latin typeface="微软雅黑"/>
              </a:defRPr>
            </a:pPr>
            <a:r>
              <a:t>没有实测数据前不要直接写"降低15%-30%"，建议表达为："具备降低运行能耗的潜力，具体节能效果依据项目水质和运行条件测算。"</a:t>
            </a:r>
          </a:p>
        </p:txBody>
      </p:sp>
      <p:sp>
        <p:nvSpPr>
          <p:cNvPr id="16" name="TextBox 15"/>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可以向AI专家重点请教的问题</a:t>
            </a:r>
          </a:p>
        </p:txBody>
      </p:sp>
      <p:sp>
        <p:nvSpPr>
          <p:cNvPr id="3" name="Rounded Rectangle 2"/>
          <p:cNvSpPr/>
          <p:nvPr/>
        </p:nvSpPr>
        <p:spPr>
          <a:xfrm>
            <a:off x="457200" y="1097280"/>
            <a:ext cx="3474720" cy="36576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97280"/>
            <a:ext cx="3474720" cy="508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80160"/>
            <a:ext cx="301752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企业端问题</a:t>
            </a:r>
          </a:p>
        </p:txBody>
      </p:sp>
      <p:sp>
        <p:nvSpPr>
          <p:cNvPr id="6" name="TextBox 5"/>
          <p:cNvSpPr txBox="1"/>
          <p:nvPr/>
        </p:nvSpPr>
        <p:spPr>
          <a:xfrm>
            <a:off x="685800" y="1645920"/>
            <a:ext cx="3017520" cy="3017520"/>
          </a:xfrm>
          <a:prstGeom prst="rect">
            <a:avLst/>
          </a:prstGeom>
          <a:noFill/>
        </p:spPr>
        <p:txBody>
          <a:bodyPr wrap="square">
            <a:spAutoFit/>
          </a:bodyPr>
          <a:lstStyle/>
          <a:p>
            <a:pPr>
              <a:lnSpc>
                <a:spcPts val="1800"/>
              </a:lnSpc>
              <a:spcAft>
                <a:spcPts val="200"/>
              </a:spcAft>
              <a:defRPr sz="1200">
                <a:solidFill>
                  <a:srgbClr val="475569"/>
                </a:solidFill>
                <a:latin typeface="微软雅黑"/>
              </a:defRPr>
            </a:pPr>
            <a:r>
              <a:t>• 最适合先做哪些AI应用？</a:t>
            </a:r>
          </a:p>
          <a:p>
            <a:pPr>
              <a:lnSpc>
                <a:spcPts val="1800"/>
              </a:lnSpc>
              <a:spcAft>
                <a:spcPts val="200"/>
              </a:spcAft>
              <a:defRPr sz="1200">
                <a:solidFill>
                  <a:srgbClr val="475569"/>
                </a:solidFill>
                <a:latin typeface="微软雅黑"/>
              </a:defRPr>
            </a:pPr>
            <a:r>
              <a:t>• AI知识库怎么搭建？</a:t>
            </a:r>
          </a:p>
          <a:p>
            <a:pPr>
              <a:lnSpc>
                <a:spcPts val="1800"/>
              </a:lnSpc>
              <a:spcAft>
                <a:spcPts val="200"/>
              </a:spcAft>
              <a:defRPr sz="1200">
                <a:solidFill>
                  <a:srgbClr val="475569"/>
                </a:solidFill>
                <a:latin typeface="微软雅黑"/>
              </a:defRPr>
            </a:pPr>
            <a:r>
              <a:t>• 标书/方案能否AI生成？</a:t>
            </a:r>
          </a:p>
          <a:p>
            <a:pPr>
              <a:lnSpc>
                <a:spcPts val="1800"/>
              </a:lnSpc>
              <a:spcAft>
                <a:spcPts val="200"/>
              </a:spcAft>
              <a:defRPr sz="1200">
                <a:solidFill>
                  <a:srgbClr val="475569"/>
                </a:solidFill>
                <a:latin typeface="微软雅黑"/>
              </a:defRPr>
            </a:pPr>
            <a:r>
              <a:t>• 客户画像做到什么程度？</a:t>
            </a:r>
          </a:p>
          <a:p>
            <a:pPr>
              <a:lnSpc>
                <a:spcPts val="1800"/>
              </a:lnSpc>
              <a:spcAft>
                <a:spcPts val="200"/>
              </a:spcAft>
              <a:defRPr sz="1200">
                <a:solidFill>
                  <a:srgbClr val="475569"/>
                </a:solidFill>
                <a:latin typeface="微软雅黑"/>
              </a:defRPr>
            </a:pPr>
            <a:r>
              <a:t>• AI营销如何避免空泛？</a:t>
            </a:r>
          </a:p>
        </p:txBody>
      </p:sp>
      <p:sp>
        <p:nvSpPr>
          <p:cNvPr id="7" name="Rounded Rectangle 6"/>
          <p:cNvSpPr/>
          <p:nvPr/>
        </p:nvSpPr>
        <p:spPr>
          <a:xfrm>
            <a:off x="4251960" y="1097280"/>
            <a:ext cx="3474720" cy="50292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51960" y="1097280"/>
            <a:ext cx="3474720"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280160"/>
            <a:ext cx="301752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产品端问题</a:t>
            </a:r>
          </a:p>
        </p:txBody>
      </p:sp>
      <p:sp>
        <p:nvSpPr>
          <p:cNvPr id="10" name="TextBox 9"/>
          <p:cNvSpPr txBox="1"/>
          <p:nvPr/>
        </p:nvSpPr>
        <p:spPr>
          <a:xfrm>
            <a:off x="4480560" y="1645920"/>
            <a:ext cx="3017520" cy="4389120"/>
          </a:xfrm>
          <a:prstGeom prst="rect">
            <a:avLst/>
          </a:prstGeom>
          <a:noFill/>
        </p:spPr>
        <p:txBody>
          <a:bodyPr wrap="square">
            <a:spAutoFit/>
          </a:bodyPr>
          <a:lstStyle/>
          <a:p>
            <a:pPr>
              <a:lnSpc>
                <a:spcPts val="1800"/>
              </a:lnSpc>
              <a:spcAft>
                <a:spcPts val="200"/>
              </a:spcAft>
              <a:defRPr sz="1200">
                <a:solidFill>
                  <a:srgbClr val="475569"/>
                </a:solidFill>
                <a:latin typeface="微软雅黑"/>
              </a:defRPr>
            </a:pPr>
            <a:r>
              <a:t>• 臭氧/曝气是否适合AI优化？</a:t>
            </a:r>
          </a:p>
          <a:p>
            <a:pPr>
              <a:lnSpc>
                <a:spcPts val="1800"/>
              </a:lnSpc>
              <a:spcAft>
                <a:spcPts val="200"/>
              </a:spcAft>
              <a:defRPr sz="1200">
                <a:solidFill>
                  <a:srgbClr val="475569"/>
                </a:solidFill>
                <a:latin typeface="微软雅黑"/>
              </a:defRPr>
            </a:pPr>
            <a:r>
              <a:t>• 需要哪些传感器和数据？</a:t>
            </a:r>
          </a:p>
          <a:p>
            <a:pPr>
              <a:lnSpc>
                <a:spcPts val="1800"/>
              </a:lnSpc>
              <a:spcAft>
                <a:spcPts val="200"/>
              </a:spcAft>
              <a:defRPr sz="1200">
                <a:solidFill>
                  <a:srgbClr val="475569"/>
                </a:solidFill>
                <a:latin typeface="微软雅黑"/>
              </a:defRPr>
            </a:pPr>
            <a:r>
              <a:t>• 数据量不大能否先用规则+AI？</a:t>
            </a:r>
          </a:p>
          <a:p>
            <a:pPr>
              <a:lnSpc>
                <a:spcPts val="1800"/>
              </a:lnSpc>
              <a:spcAft>
                <a:spcPts val="200"/>
              </a:spcAft>
              <a:defRPr sz="1200">
                <a:solidFill>
                  <a:srgbClr val="475569"/>
                </a:solidFill>
                <a:latin typeface="微软雅黑"/>
              </a:defRPr>
            </a:pPr>
            <a:r>
              <a:t>• AI和PLC如何结合？</a:t>
            </a:r>
          </a:p>
          <a:p>
            <a:pPr>
              <a:lnSpc>
                <a:spcPts val="1800"/>
              </a:lnSpc>
              <a:spcAft>
                <a:spcPts val="200"/>
              </a:spcAft>
              <a:defRPr sz="1200">
                <a:solidFill>
                  <a:srgbClr val="475569"/>
                </a:solidFill>
                <a:latin typeface="微软雅黑"/>
              </a:defRPr>
            </a:pPr>
            <a:r>
              <a:t>• 智能控制柜最小可行版本？</a:t>
            </a:r>
          </a:p>
          <a:p>
            <a:pPr>
              <a:lnSpc>
                <a:spcPts val="1800"/>
              </a:lnSpc>
              <a:spcAft>
                <a:spcPts val="200"/>
              </a:spcAft>
              <a:defRPr sz="1200">
                <a:solidFill>
                  <a:srgbClr val="475569"/>
                </a:solidFill>
                <a:latin typeface="微软雅黑"/>
              </a:defRPr>
            </a:pPr>
            <a:r>
              <a:t>• 水质预测需多少历史数据？</a:t>
            </a:r>
          </a:p>
          <a:p>
            <a:pPr>
              <a:lnSpc>
                <a:spcPts val="1800"/>
              </a:lnSpc>
              <a:spcAft>
                <a:spcPts val="200"/>
              </a:spcAft>
              <a:defRPr sz="1200">
                <a:solidFill>
                  <a:srgbClr val="475569"/>
                </a:solidFill>
                <a:latin typeface="微软雅黑"/>
              </a:defRPr>
            </a:pPr>
            <a:r>
              <a:t>• COD仪表替代方案？</a:t>
            </a:r>
          </a:p>
          <a:p>
            <a:pPr>
              <a:lnSpc>
                <a:spcPts val="1800"/>
              </a:lnSpc>
              <a:spcAft>
                <a:spcPts val="200"/>
              </a:spcAft>
              <a:defRPr sz="1200">
                <a:solidFill>
                  <a:srgbClr val="475569"/>
                </a:solidFill>
                <a:latin typeface="微软雅黑"/>
              </a:defRPr>
            </a:pPr>
            <a:r>
              <a:t>• AI如何避免误判？</a:t>
            </a:r>
          </a:p>
          <a:p>
            <a:pPr>
              <a:lnSpc>
                <a:spcPts val="1800"/>
              </a:lnSpc>
              <a:spcAft>
                <a:spcPts val="200"/>
              </a:spcAft>
              <a:defRPr sz="1200">
                <a:solidFill>
                  <a:srgbClr val="475569"/>
                </a:solidFill>
                <a:latin typeface="微软雅黑"/>
              </a:defRPr>
            </a:pPr>
            <a:r>
              <a:t>• 设备端/云端如何分工？</a:t>
            </a:r>
          </a:p>
        </p:txBody>
      </p:sp>
      <p:sp>
        <p:nvSpPr>
          <p:cNvPr id="11" name="Rounded Rectangle 10"/>
          <p:cNvSpPr/>
          <p:nvPr/>
        </p:nvSpPr>
        <p:spPr>
          <a:xfrm>
            <a:off x="8046720" y="1097280"/>
            <a:ext cx="3474720" cy="36576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097280"/>
            <a:ext cx="347472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280160"/>
            <a:ext cx="3017520" cy="36576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  合作模式问题</a:t>
            </a:r>
          </a:p>
        </p:txBody>
      </p:sp>
      <p:sp>
        <p:nvSpPr>
          <p:cNvPr id="14" name="TextBox 13"/>
          <p:cNvSpPr txBox="1"/>
          <p:nvPr/>
        </p:nvSpPr>
        <p:spPr>
          <a:xfrm>
            <a:off x="8275320" y="1645920"/>
            <a:ext cx="3017520" cy="3017520"/>
          </a:xfrm>
          <a:prstGeom prst="rect">
            <a:avLst/>
          </a:prstGeom>
          <a:noFill/>
        </p:spPr>
        <p:txBody>
          <a:bodyPr wrap="square">
            <a:spAutoFit/>
          </a:bodyPr>
          <a:lstStyle/>
          <a:p>
            <a:pPr>
              <a:lnSpc>
                <a:spcPts val="1800"/>
              </a:lnSpc>
              <a:spcAft>
                <a:spcPts val="200"/>
              </a:spcAft>
              <a:defRPr sz="1200">
                <a:solidFill>
                  <a:srgbClr val="475569"/>
                </a:solidFill>
                <a:latin typeface="微软雅黑"/>
              </a:defRPr>
            </a:pPr>
            <a:r>
              <a:t>• 能否先做三个月试点？</a:t>
            </a:r>
          </a:p>
          <a:p>
            <a:pPr>
              <a:lnSpc>
                <a:spcPts val="1800"/>
              </a:lnSpc>
              <a:spcAft>
                <a:spcPts val="200"/>
              </a:spcAft>
              <a:defRPr sz="1200">
                <a:solidFill>
                  <a:srgbClr val="475569"/>
                </a:solidFill>
                <a:latin typeface="微软雅黑"/>
              </a:defRPr>
            </a:pPr>
            <a:r>
              <a:t>• 试点需要哪些投入？</a:t>
            </a:r>
          </a:p>
          <a:p>
            <a:pPr>
              <a:lnSpc>
                <a:spcPts val="1800"/>
              </a:lnSpc>
              <a:spcAft>
                <a:spcPts val="200"/>
              </a:spcAft>
              <a:defRPr sz="1200">
                <a:solidFill>
                  <a:srgbClr val="475569"/>
                </a:solidFill>
                <a:latin typeface="微软雅黑"/>
              </a:defRPr>
            </a:pPr>
            <a:r>
              <a:t>• 双方如何分工？</a:t>
            </a:r>
          </a:p>
          <a:p>
            <a:pPr>
              <a:lnSpc>
                <a:spcPts val="1800"/>
              </a:lnSpc>
              <a:spcAft>
                <a:spcPts val="200"/>
              </a:spcAft>
              <a:defRPr sz="1200">
                <a:solidFill>
                  <a:srgbClr val="475569"/>
                </a:solidFill>
                <a:latin typeface="微软雅黑"/>
              </a:defRPr>
            </a:pPr>
            <a:r>
              <a:t>• 知识产权如何划分？</a:t>
            </a:r>
          </a:p>
          <a:p>
            <a:pPr>
              <a:lnSpc>
                <a:spcPts val="1800"/>
              </a:lnSpc>
              <a:spcAft>
                <a:spcPts val="200"/>
              </a:spcAft>
              <a:defRPr sz="1200">
                <a:solidFill>
                  <a:srgbClr val="475569"/>
                </a:solidFill>
                <a:latin typeface="微软雅黑"/>
              </a:defRPr>
            </a:pPr>
            <a:r>
              <a:t>• 能否共同打造样板案例？</a:t>
            </a:r>
          </a:p>
        </p:txBody>
      </p:sp>
      <p:sp>
        <p:nvSpPr>
          <p:cNvPr id="15" name="TextBox 14"/>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建议三步合作模式</a:t>
            </a:r>
          </a:p>
        </p:txBody>
      </p:sp>
      <p:sp>
        <p:nvSpPr>
          <p:cNvPr id="3" name="Rounded Rectangle 2"/>
          <p:cNvSpPr/>
          <p:nvPr/>
        </p:nvSpPr>
        <p:spPr>
          <a:xfrm>
            <a:off x="457200" y="1188720"/>
            <a:ext cx="3474720" cy="47548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28800" y="1005840"/>
            <a:ext cx="411480" cy="4114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005840"/>
            <a:ext cx="411480" cy="411480"/>
          </a:xfrm>
          <a:prstGeom prst="rect">
            <a:avLst/>
          </a:prstGeom>
          <a:noFill/>
        </p:spPr>
        <p:txBody>
          <a:bodyPr wrap="square">
            <a:spAutoFit/>
          </a:bodyPr>
          <a:lstStyle/>
          <a:p>
            <a:pPr algn="ctr">
              <a:lnSpc>
                <a:spcPts val="2080"/>
              </a:lnSpc>
              <a:spcAft>
                <a:spcPts val="0"/>
              </a:spcAft>
              <a:defRPr sz="1600" b="1">
                <a:solidFill>
                  <a:srgbClr val="FFFFFF"/>
                </a:solidFill>
                <a:latin typeface="微软雅黑"/>
              </a:defRPr>
            </a:pPr>
            <a:r>
              <a:t>1</a:t>
            </a:r>
          </a:p>
        </p:txBody>
      </p:sp>
      <p:sp>
        <p:nvSpPr>
          <p:cNvPr id="6" name="TextBox 5"/>
          <p:cNvSpPr txBox="1"/>
          <p:nvPr/>
        </p:nvSpPr>
        <p:spPr>
          <a:xfrm>
            <a:off x="640080" y="1508760"/>
            <a:ext cx="3108960" cy="365760"/>
          </a:xfrm>
          <a:prstGeom prst="rect">
            <a:avLst/>
          </a:prstGeom>
          <a:noFill/>
        </p:spPr>
        <p:txBody>
          <a:bodyPr wrap="square">
            <a:spAutoFit/>
          </a:bodyPr>
          <a:lstStyle/>
          <a:p>
            <a:pPr algn="ctr">
              <a:lnSpc>
                <a:spcPts val="2210"/>
              </a:lnSpc>
              <a:spcAft>
                <a:spcPts val="0"/>
              </a:spcAft>
              <a:defRPr sz="1700" b="1">
                <a:solidFill>
                  <a:srgbClr val="1E293B"/>
                </a:solidFill>
                <a:latin typeface="微软雅黑"/>
              </a:defRPr>
            </a:pPr>
            <a:r>
              <a:t>AI赋能诊断</a:t>
            </a:r>
          </a:p>
        </p:txBody>
      </p:sp>
      <p:sp>
        <p:nvSpPr>
          <p:cNvPr id="7" name="TextBox 6"/>
          <p:cNvSpPr txBox="1"/>
          <p:nvPr/>
        </p:nvSpPr>
        <p:spPr>
          <a:xfrm>
            <a:off x="640080" y="1874519"/>
            <a:ext cx="3108960" cy="274320"/>
          </a:xfrm>
          <a:prstGeom prst="rect">
            <a:avLst/>
          </a:prstGeom>
          <a:noFill/>
        </p:spPr>
        <p:txBody>
          <a:bodyPr wrap="square">
            <a:spAutoFit/>
          </a:bodyPr>
          <a:lstStyle/>
          <a:p>
            <a:pPr algn="ctr">
              <a:lnSpc>
                <a:spcPts val="1560"/>
              </a:lnSpc>
              <a:spcAft>
                <a:spcPts val="0"/>
              </a:spcAft>
              <a:defRPr sz="1200" b="1">
                <a:solidFill>
                  <a:srgbClr val="0EA5E9"/>
                </a:solidFill>
                <a:latin typeface="微软雅黑"/>
              </a:defRPr>
            </a:pPr>
            <a:r>
              <a:t>周期：2—4周</a:t>
            </a:r>
          </a:p>
        </p:txBody>
      </p:sp>
      <p:sp>
        <p:nvSpPr>
          <p:cNvPr id="8" name="TextBox 7"/>
          <p:cNvSpPr txBox="1"/>
          <p:nvPr/>
        </p:nvSpPr>
        <p:spPr>
          <a:xfrm>
            <a:off x="731520" y="2286000"/>
            <a:ext cx="2926080" cy="3200400"/>
          </a:xfrm>
          <a:prstGeom prst="rect">
            <a:avLst/>
          </a:prstGeom>
          <a:noFill/>
        </p:spPr>
        <p:txBody>
          <a:bodyPr wrap="square">
            <a:spAutoFit/>
          </a:bodyPr>
          <a:lstStyle/>
          <a:p>
            <a:pPr>
              <a:lnSpc>
                <a:spcPts val="1800"/>
              </a:lnSpc>
              <a:spcAft>
                <a:spcPts val="200"/>
              </a:spcAft>
              <a:defRPr sz="1200">
                <a:solidFill>
                  <a:srgbClr val="475569"/>
                </a:solidFill>
                <a:latin typeface="微软雅黑"/>
              </a:defRPr>
            </a:pPr>
            <a:r>
              <a:t>• 睿美达AI赋能诊断报告</a:t>
            </a:r>
          </a:p>
          <a:p>
            <a:pPr>
              <a:lnSpc>
                <a:spcPts val="1800"/>
              </a:lnSpc>
              <a:spcAft>
                <a:spcPts val="200"/>
              </a:spcAft>
              <a:defRPr sz="1200">
                <a:solidFill>
                  <a:srgbClr val="475569"/>
                </a:solidFill>
                <a:latin typeface="微软雅黑"/>
              </a:defRPr>
            </a:pPr>
            <a:r>
              <a:t>• 企业内部效率提升建议</a:t>
            </a:r>
          </a:p>
          <a:p>
            <a:pPr>
              <a:lnSpc>
                <a:spcPts val="1800"/>
              </a:lnSpc>
              <a:spcAft>
                <a:spcPts val="200"/>
              </a:spcAft>
              <a:defRPr sz="1200">
                <a:solidFill>
                  <a:srgbClr val="475569"/>
                </a:solidFill>
                <a:latin typeface="微软雅黑"/>
              </a:defRPr>
            </a:pPr>
            <a:r>
              <a:t>• 产品智能化改造建议</a:t>
            </a:r>
          </a:p>
          <a:p>
            <a:pPr>
              <a:lnSpc>
                <a:spcPts val="1800"/>
              </a:lnSpc>
              <a:spcAft>
                <a:spcPts val="200"/>
              </a:spcAft>
              <a:defRPr sz="1200">
                <a:solidFill>
                  <a:srgbClr val="475569"/>
                </a:solidFill>
                <a:latin typeface="微软雅黑"/>
              </a:defRPr>
            </a:pPr>
            <a:r>
              <a:t>• 数据采集清单</a:t>
            </a:r>
          </a:p>
          <a:p>
            <a:pPr>
              <a:lnSpc>
                <a:spcPts val="1800"/>
              </a:lnSpc>
              <a:spcAft>
                <a:spcPts val="200"/>
              </a:spcAft>
              <a:defRPr sz="1200">
                <a:solidFill>
                  <a:srgbClr val="475569"/>
                </a:solidFill>
                <a:latin typeface="微软雅黑"/>
              </a:defRPr>
            </a:pPr>
            <a:r>
              <a:t>• 试点设备方案</a:t>
            </a:r>
          </a:p>
          <a:p>
            <a:pPr>
              <a:lnSpc>
                <a:spcPts val="1800"/>
              </a:lnSpc>
              <a:spcAft>
                <a:spcPts val="200"/>
              </a:spcAft>
              <a:defRPr sz="1200">
                <a:solidFill>
                  <a:srgbClr val="475569"/>
                </a:solidFill>
                <a:latin typeface="微软雅黑"/>
              </a:defRPr>
            </a:pPr>
            <a:r>
              <a:t>• 项目预算预估</a:t>
            </a:r>
          </a:p>
        </p:txBody>
      </p:sp>
      <p:sp>
        <p:nvSpPr>
          <p:cNvPr id="9" name="Rounded Rectangle 8"/>
          <p:cNvSpPr/>
          <p:nvPr/>
        </p:nvSpPr>
        <p:spPr>
          <a:xfrm>
            <a:off x="4251960" y="1188720"/>
            <a:ext cx="3474720" cy="47548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23560" y="1005840"/>
            <a:ext cx="411480" cy="4114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23560" y="1005840"/>
            <a:ext cx="411480" cy="411480"/>
          </a:xfrm>
          <a:prstGeom prst="rect">
            <a:avLst/>
          </a:prstGeom>
          <a:noFill/>
        </p:spPr>
        <p:txBody>
          <a:bodyPr wrap="square">
            <a:spAutoFit/>
          </a:bodyPr>
          <a:lstStyle/>
          <a:p>
            <a:pPr algn="ctr">
              <a:lnSpc>
                <a:spcPts val="2080"/>
              </a:lnSpc>
              <a:spcAft>
                <a:spcPts val="0"/>
              </a:spcAft>
              <a:defRPr sz="1600" b="1">
                <a:solidFill>
                  <a:srgbClr val="FFFFFF"/>
                </a:solidFill>
                <a:latin typeface="微软雅黑"/>
              </a:defRPr>
            </a:pPr>
            <a:r>
              <a:t>2</a:t>
            </a:r>
          </a:p>
        </p:txBody>
      </p:sp>
      <p:sp>
        <p:nvSpPr>
          <p:cNvPr id="12" name="TextBox 11"/>
          <p:cNvSpPr txBox="1"/>
          <p:nvPr/>
        </p:nvSpPr>
        <p:spPr>
          <a:xfrm>
            <a:off x="4434840" y="1508760"/>
            <a:ext cx="3108960" cy="365760"/>
          </a:xfrm>
          <a:prstGeom prst="rect">
            <a:avLst/>
          </a:prstGeom>
          <a:noFill/>
        </p:spPr>
        <p:txBody>
          <a:bodyPr wrap="square">
            <a:spAutoFit/>
          </a:bodyPr>
          <a:lstStyle/>
          <a:p>
            <a:pPr algn="ctr">
              <a:lnSpc>
                <a:spcPts val="2210"/>
              </a:lnSpc>
              <a:spcAft>
                <a:spcPts val="0"/>
              </a:spcAft>
              <a:defRPr sz="1700" b="1">
                <a:solidFill>
                  <a:srgbClr val="1E293B"/>
                </a:solidFill>
                <a:latin typeface="微软雅黑"/>
              </a:defRPr>
            </a:pPr>
            <a:r>
              <a:t>样机与试点项目</a:t>
            </a:r>
          </a:p>
        </p:txBody>
      </p:sp>
      <p:sp>
        <p:nvSpPr>
          <p:cNvPr id="13" name="TextBox 12"/>
          <p:cNvSpPr txBox="1"/>
          <p:nvPr/>
        </p:nvSpPr>
        <p:spPr>
          <a:xfrm>
            <a:off x="4434840" y="1874519"/>
            <a:ext cx="3108960" cy="274320"/>
          </a:xfrm>
          <a:prstGeom prst="rect">
            <a:avLst/>
          </a:prstGeom>
          <a:noFill/>
        </p:spPr>
        <p:txBody>
          <a:bodyPr wrap="square">
            <a:spAutoFit/>
          </a:bodyPr>
          <a:lstStyle/>
          <a:p>
            <a:pPr algn="ctr">
              <a:lnSpc>
                <a:spcPts val="1560"/>
              </a:lnSpc>
              <a:spcAft>
                <a:spcPts val="0"/>
              </a:spcAft>
              <a:defRPr sz="1200" b="1">
                <a:solidFill>
                  <a:srgbClr val="0EA5E9"/>
                </a:solidFill>
                <a:latin typeface="微软雅黑"/>
              </a:defRPr>
            </a:pPr>
            <a:r>
              <a:t>周期：3—6个月</a:t>
            </a:r>
          </a:p>
        </p:txBody>
      </p:sp>
      <p:sp>
        <p:nvSpPr>
          <p:cNvPr id="14" name="TextBox 13"/>
          <p:cNvSpPr txBox="1"/>
          <p:nvPr/>
        </p:nvSpPr>
        <p:spPr>
          <a:xfrm>
            <a:off x="4526280" y="2286000"/>
            <a:ext cx="2926080" cy="3200400"/>
          </a:xfrm>
          <a:prstGeom prst="rect">
            <a:avLst/>
          </a:prstGeom>
          <a:noFill/>
        </p:spPr>
        <p:txBody>
          <a:bodyPr wrap="square">
            <a:spAutoFit/>
          </a:bodyPr>
          <a:lstStyle/>
          <a:p>
            <a:pPr>
              <a:lnSpc>
                <a:spcPts val="1800"/>
              </a:lnSpc>
              <a:spcAft>
                <a:spcPts val="200"/>
              </a:spcAft>
              <a:defRPr sz="1200">
                <a:solidFill>
                  <a:srgbClr val="475569"/>
                </a:solidFill>
                <a:latin typeface="微软雅黑"/>
              </a:defRPr>
            </a:pPr>
            <a:r>
              <a:t>• AI智能控制柜样机</a:t>
            </a:r>
          </a:p>
          <a:p>
            <a:pPr>
              <a:lnSpc>
                <a:spcPts val="1800"/>
              </a:lnSpc>
              <a:spcAft>
                <a:spcPts val="200"/>
              </a:spcAft>
              <a:defRPr sz="1200">
                <a:solidFill>
                  <a:srgbClr val="475569"/>
                </a:solidFill>
                <a:latin typeface="微软雅黑"/>
              </a:defRPr>
            </a:pPr>
            <a:r>
              <a:t>• 设备远程数据看板</a:t>
            </a:r>
          </a:p>
          <a:p>
            <a:pPr>
              <a:lnSpc>
                <a:spcPts val="1800"/>
              </a:lnSpc>
              <a:spcAft>
                <a:spcPts val="200"/>
              </a:spcAft>
              <a:defRPr sz="1200">
                <a:solidFill>
                  <a:srgbClr val="475569"/>
                </a:solidFill>
                <a:latin typeface="微软雅黑"/>
              </a:defRPr>
            </a:pPr>
            <a:r>
              <a:t>• 臭氧/曝气智能调控模型初版</a:t>
            </a:r>
          </a:p>
          <a:p>
            <a:pPr>
              <a:lnSpc>
                <a:spcPts val="1800"/>
              </a:lnSpc>
              <a:spcAft>
                <a:spcPts val="200"/>
              </a:spcAft>
              <a:defRPr sz="1200">
                <a:solidFill>
                  <a:srgbClr val="475569"/>
                </a:solidFill>
                <a:latin typeface="微软雅黑"/>
              </a:defRPr>
            </a:pPr>
            <a:r>
              <a:t>• 试点运行数据</a:t>
            </a:r>
          </a:p>
          <a:p>
            <a:pPr>
              <a:lnSpc>
                <a:spcPts val="1800"/>
              </a:lnSpc>
              <a:spcAft>
                <a:spcPts val="200"/>
              </a:spcAft>
              <a:defRPr sz="1200">
                <a:solidFill>
                  <a:srgbClr val="475569"/>
                </a:solidFill>
                <a:latin typeface="微软雅黑"/>
              </a:defRPr>
            </a:pPr>
            <a:r>
              <a:t>• 节能效果评估报告</a:t>
            </a:r>
          </a:p>
          <a:p>
            <a:pPr>
              <a:lnSpc>
                <a:spcPts val="1800"/>
              </a:lnSpc>
              <a:spcAft>
                <a:spcPts val="200"/>
              </a:spcAft>
              <a:defRPr sz="1200">
                <a:solidFill>
                  <a:srgbClr val="475569"/>
                </a:solidFill>
                <a:latin typeface="微软雅黑"/>
              </a:defRPr>
            </a:pPr>
            <a:r>
              <a:t>• 产品宣传资料</a:t>
            </a:r>
          </a:p>
        </p:txBody>
      </p:sp>
      <p:sp>
        <p:nvSpPr>
          <p:cNvPr id="15" name="Rounded Rectangle 14"/>
          <p:cNvSpPr/>
          <p:nvPr/>
        </p:nvSpPr>
        <p:spPr>
          <a:xfrm>
            <a:off x="8046720" y="1188720"/>
            <a:ext cx="3474720" cy="47548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418320" y="1005840"/>
            <a:ext cx="411480" cy="4114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0" y="1005840"/>
            <a:ext cx="411480" cy="411480"/>
          </a:xfrm>
          <a:prstGeom prst="rect">
            <a:avLst/>
          </a:prstGeom>
          <a:noFill/>
        </p:spPr>
        <p:txBody>
          <a:bodyPr wrap="square">
            <a:spAutoFit/>
          </a:bodyPr>
          <a:lstStyle/>
          <a:p>
            <a:pPr algn="ctr">
              <a:lnSpc>
                <a:spcPts val="2080"/>
              </a:lnSpc>
              <a:spcAft>
                <a:spcPts val="0"/>
              </a:spcAft>
              <a:defRPr sz="1600" b="1">
                <a:solidFill>
                  <a:srgbClr val="FFFFFF"/>
                </a:solidFill>
                <a:latin typeface="微软雅黑"/>
              </a:defRPr>
            </a:pPr>
            <a:r>
              <a:t>3</a:t>
            </a:r>
          </a:p>
        </p:txBody>
      </p:sp>
      <p:sp>
        <p:nvSpPr>
          <p:cNvPr id="18" name="TextBox 17"/>
          <p:cNvSpPr txBox="1"/>
          <p:nvPr/>
        </p:nvSpPr>
        <p:spPr>
          <a:xfrm>
            <a:off x="8229600" y="1508760"/>
            <a:ext cx="3108960" cy="365760"/>
          </a:xfrm>
          <a:prstGeom prst="rect">
            <a:avLst/>
          </a:prstGeom>
          <a:noFill/>
        </p:spPr>
        <p:txBody>
          <a:bodyPr wrap="square">
            <a:spAutoFit/>
          </a:bodyPr>
          <a:lstStyle/>
          <a:p>
            <a:pPr algn="ctr">
              <a:lnSpc>
                <a:spcPts val="2210"/>
              </a:lnSpc>
              <a:spcAft>
                <a:spcPts val="0"/>
              </a:spcAft>
              <a:defRPr sz="1700" b="1">
                <a:solidFill>
                  <a:srgbClr val="1E293B"/>
                </a:solidFill>
                <a:latin typeface="微软雅黑"/>
              </a:defRPr>
            </a:pPr>
            <a:r>
              <a:t>产品化与市场推广</a:t>
            </a:r>
          </a:p>
        </p:txBody>
      </p:sp>
      <p:sp>
        <p:nvSpPr>
          <p:cNvPr id="19" name="TextBox 18"/>
          <p:cNvSpPr txBox="1"/>
          <p:nvPr/>
        </p:nvSpPr>
        <p:spPr>
          <a:xfrm>
            <a:off x="8229600" y="1874519"/>
            <a:ext cx="3108960" cy="274320"/>
          </a:xfrm>
          <a:prstGeom prst="rect">
            <a:avLst/>
          </a:prstGeom>
          <a:noFill/>
        </p:spPr>
        <p:txBody>
          <a:bodyPr wrap="square">
            <a:spAutoFit/>
          </a:bodyPr>
          <a:lstStyle/>
          <a:p>
            <a:pPr algn="ctr">
              <a:lnSpc>
                <a:spcPts val="1560"/>
              </a:lnSpc>
              <a:spcAft>
                <a:spcPts val="0"/>
              </a:spcAft>
              <a:defRPr sz="1200" b="1">
                <a:solidFill>
                  <a:srgbClr val="0EA5E9"/>
                </a:solidFill>
                <a:latin typeface="微软雅黑"/>
              </a:defRPr>
            </a:pPr>
            <a:r>
              <a:t>周期：6—12个月</a:t>
            </a:r>
          </a:p>
        </p:txBody>
      </p:sp>
      <p:sp>
        <p:nvSpPr>
          <p:cNvPr id="20" name="TextBox 19"/>
          <p:cNvSpPr txBox="1"/>
          <p:nvPr/>
        </p:nvSpPr>
        <p:spPr>
          <a:xfrm>
            <a:off x="8321040" y="2286000"/>
            <a:ext cx="2926080" cy="3200400"/>
          </a:xfrm>
          <a:prstGeom prst="rect">
            <a:avLst/>
          </a:prstGeom>
          <a:noFill/>
        </p:spPr>
        <p:txBody>
          <a:bodyPr wrap="square">
            <a:spAutoFit/>
          </a:bodyPr>
          <a:lstStyle/>
          <a:p>
            <a:pPr>
              <a:lnSpc>
                <a:spcPts val="1800"/>
              </a:lnSpc>
              <a:spcAft>
                <a:spcPts val="200"/>
              </a:spcAft>
              <a:defRPr sz="1200">
                <a:solidFill>
                  <a:srgbClr val="475569"/>
                </a:solidFill>
                <a:latin typeface="微软雅黑"/>
              </a:defRPr>
            </a:pPr>
            <a:r>
              <a:t>• AI智能超微纳米臭氧水处理系统</a:t>
            </a:r>
          </a:p>
          <a:p>
            <a:pPr>
              <a:lnSpc>
                <a:spcPts val="1800"/>
              </a:lnSpc>
              <a:spcAft>
                <a:spcPts val="200"/>
              </a:spcAft>
              <a:defRPr sz="1200">
                <a:solidFill>
                  <a:srgbClr val="475569"/>
                </a:solidFill>
                <a:latin typeface="微软雅黑"/>
              </a:defRPr>
            </a:pPr>
            <a:r>
              <a:t>• 标准化产品手册</a:t>
            </a:r>
          </a:p>
          <a:p>
            <a:pPr>
              <a:lnSpc>
                <a:spcPts val="1800"/>
              </a:lnSpc>
              <a:spcAft>
                <a:spcPts val="200"/>
              </a:spcAft>
              <a:defRPr sz="1200">
                <a:solidFill>
                  <a:srgbClr val="475569"/>
                </a:solidFill>
                <a:latin typeface="微软雅黑"/>
              </a:defRPr>
            </a:pPr>
            <a:r>
              <a:t>• 销售PPT + 应用方案</a:t>
            </a:r>
          </a:p>
          <a:p>
            <a:pPr>
              <a:lnSpc>
                <a:spcPts val="1800"/>
              </a:lnSpc>
              <a:spcAft>
                <a:spcPts val="200"/>
              </a:spcAft>
              <a:defRPr sz="1200">
                <a:solidFill>
                  <a:srgbClr val="475569"/>
                </a:solidFill>
                <a:latin typeface="微软雅黑"/>
              </a:defRPr>
            </a:pPr>
            <a:r>
              <a:t>• 数字展厅视频</a:t>
            </a:r>
          </a:p>
          <a:p>
            <a:pPr>
              <a:lnSpc>
                <a:spcPts val="1800"/>
              </a:lnSpc>
              <a:spcAft>
                <a:spcPts val="200"/>
              </a:spcAft>
              <a:defRPr sz="1200">
                <a:solidFill>
                  <a:srgbClr val="475569"/>
                </a:solidFill>
                <a:latin typeface="微软雅黑"/>
              </a:defRPr>
            </a:pPr>
            <a:r>
              <a:t>• 行业白皮书</a:t>
            </a:r>
          </a:p>
          <a:p>
            <a:pPr>
              <a:lnSpc>
                <a:spcPts val="1800"/>
              </a:lnSpc>
              <a:spcAft>
                <a:spcPts val="200"/>
              </a:spcAft>
              <a:defRPr sz="1200">
                <a:solidFill>
                  <a:srgbClr val="475569"/>
                </a:solidFill>
                <a:latin typeface="微软雅黑"/>
              </a:defRPr>
            </a:pPr>
            <a:r>
              <a:t>• 联合品牌推广</a:t>
            </a:r>
          </a:p>
        </p:txBody>
      </p:sp>
      <p:sp>
        <p:nvSpPr>
          <p:cNvPr id="21" name="TextBox 20"/>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后期视频内容系列规划</a:t>
            </a:r>
          </a:p>
        </p:txBody>
      </p:sp>
      <p:sp>
        <p:nvSpPr>
          <p:cNvPr id="3" name="Rounded Rectangle 2"/>
          <p:cNvSpPr/>
          <p:nvPr/>
        </p:nvSpPr>
        <p:spPr>
          <a:xfrm>
            <a:off x="457200" y="1097280"/>
            <a:ext cx="3474720" cy="22860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97280"/>
            <a:ext cx="63500" cy="22860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34440"/>
            <a:ext cx="3017520" cy="274320"/>
          </a:xfrm>
          <a:prstGeom prst="rect">
            <a:avLst/>
          </a:prstGeom>
          <a:noFill/>
        </p:spPr>
        <p:txBody>
          <a:bodyPr wrap="square">
            <a:spAutoFit/>
          </a:bodyPr>
          <a:lstStyle/>
          <a:p>
            <a:pPr algn="l">
              <a:lnSpc>
                <a:spcPts val="1690"/>
              </a:lnSpc>
              <a:spcAft>
                <a:spcPts val="0"/>
              </a:spcAft>
              <a:defRPr sz="1300" b="1">
                <a:solidFill>
                  <a:srgbClr val="1E293B"/>
                </a:solidFill>
                <a:latin typeface="微软雅黑"/>
              </a:defRPr>
            </a:pPr>
            <a:r>
              <a:t>主题一：环保装备为什么必须智能化？</a:t>
            </a:r>
          </a:p>
        </p:txBody>
      </p:sp>
      <p:sp>
        <p:nvSpPr>
          <p:cNvPr id="6" name="TextBox 5"/>
          <p:cNvSpPr txBox="1"/>
          <p:nvPr/>
        </p:nvSpPr>
        <p:spPr>
          <a:xfrm>
            <a:off x="685800" y="1600200"/>
            <a:ext cx="3017520" cy="1645920"/>
          </a:xfrm>
          <a:prstGeom prst="rect">
            <a:avLst/>
          </a:prstGeom>
          <a:noFill/>
        </p:spPr>
        <p:txBody>
          <a:bodyPr wrap="square">
            <a:spAutoFit/>
          </a:bodyPr>
          <a:lstStyle/>
          <a:p>
            <a:pPr>
              <a:lnSpc>
                <a:spcPts val="1650"/>
              </a:lnSpc>
              <a:spcAft>
                <a:spcPts val="200"/>
              </a:spcAft>
              <a:defRPr sz="1100">
                <a:solidFill>
                  <a:srgbClr val="475569"/>
                </a:solidFill>
                <a:latin typeface="微软雅黑"/>
              </a:defRPr>
            </a:pPr>
            <a:r>
              <a:t>• 人工调试经验依赖强</a:t>
            </a:r>
          </a:p>
          <a:p>
            <a:pPr>
              <a:lnSpc>
                <a:spcPts val="1650"/>
              </a:lnSpc>
              <a:spcAft>
                <a:spcPts val="200"/>
              </a:spcAft>
              <a:defRPr sz="1100">
                <a:solidFill>
                  <a:srgbClr val="475569"/>
                </a:solidFill>
                <a:latin typeface="微软雅黑"/>
              </a:defRPr>
            </a:pPr>
            <a:r>
              <a:t>• 水质波动难管控</a:t>
            </a:r>
          </a:p>
          <a:p>
            <a:pPr>
              <a:lnSpc>
                <a:spcPts val="1650"/>
              </a:lnSpc>
              <a:spcAft>
                <a:spcPts val="200"/>
              </a:spcAft>
              <a:defRPr sz="1100">
                <a:solidFill>
                  <a:srgbClr val="475569"/>
                </a:solidFill>
                <a:latin typeface="微软雅黑"/>
              </a:defRPr>
            </a:pPr>
            <a:r>
              <a:t>• 能耗药耗居高不下</a:t>
            </a:r>
          </a:p>
          <a:p>
            <a:pPr>
              <a:lnSpc>
                <a:spcPts val="1650"/>
              </a:lnSpc>
              <a:spcAft>
                <a:spcPts val="200"/>
              </a:spcAft>
              <a:defRPr sz="1100">
                <a:solidFill>
                  <a:srgbClr val="475569"/>
                </a:solidFill>
                <a:latin typeface="微软雅黑"/>
              </a:defRPr>
            </a:pPr>
            <a:r>
              <a:t>• AI让设备从被动变主动</a:t>
            </a:r>
          </a:p>
        </p:txBody>
      </p:sp>
      <p:sp>
        <p:nvSpPr>
          <p:cNvPr id="7" name="Rounded Rectangle 6"/>
          <p:cNvSpPr/>
          <p:nvPr/>
        </p:nvSpPr>
        <p:spPr>
          <a:xfrm>
            <a:off x="4251960" y="1097280"/>
            <a:ext cx="3474720" cy="22860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51960" y="1097280"/>
            <a:ext cx="63500" cy="2286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234440"/>
            <a:ext cx="3017520" cy="274320"/>
          </a:xfrm>
          <a:prstGeom prst="rect">
            <a:avLst/>
          </a:prstGeom>
          <a:noFill/>
        </p:spPr>
        <p:txBody>
          <a:bodyPr wrap="square">
            <a:spAutoFit/>
          </a:bodyPr>
          <a:lstStyle/>
          <a:p>
            <a:pPr algn="l">
              <a:lnSpc>
                <a:spcPts val="1690"/>
              </a:lnSpc>
              <a:spcAft>
                <a:spcPts val="0"/>
              </a:spcAft>
              <a:defRPr sz="1300" b="1">
                <a:solidFill>
                  <a:srgbClr val="1E293B"/>
                </a:solidFill>
                <a:latin typeface="微软雅黑"/>
              </a:defRPr>
            </a:pPr>
            <a:r>
              <a:t>主题二：AI如何帮助臭氧水处理降本？</a:t>
            </a:r>
          </a:p>
        </p:txBody>
      </p:sp>
      <p:sp>
        <p:nvSpPr>
          <p:cNvPr id="10" name="TextBox 9"/>
          <p:cNvSpPr txBox="1"/>
          <p:nvPr/>
        </p:nvSpPr>
        <p:spPr>
          <a:xfrm>
            <a:off x="4480560" y="1600200"/>
            <a:ext cx="3017520" cy="1645920"/>
          </a:xfrm>
          <a:prstGeom prst="rect">
            <a:avLst/>
          </a:prstGeom>
          <a:noFill/>
        </p:spPr>
        <p:txBody>
          <a:bodyPr wrap="square">
            <a:spAutoFit/>
          </a:bodyPr>
          <a:lstStyle/>
          <a:p>
            <a:pPr>
              <a:lnSpc>
                <a:spcPts val="1650"/>
              </a:lnSpc>
              <a:spcAft>
                <a:spcPts val="200"/>
              </a:spcAft>
              <a:defRPr sz="1100">
                <a:solidFill>
                  <a:srgbClr val="475569"/>
                </a:solidFill>
                <a:latin typeface="微软雅黑"/>
              </a:defRPr>
            </a:pPr>
            <a:r>
              <a:t>• 臭氧投加过多是浪费</a:t>
            </a:r>
          </a:p>
          <a:p>
            <a:pPr>
              <a:lnSpc>
                <a:spcPts val="1650"/>
              </a:lnSpc>
              <a:spcAft>
                <a:spcPts val="200"/>
              </a:spcAft>
              <a:defRPr sz="1100">
                <a:solidFill>
                  <a:srgbClr val="475569"/>
                </a:solidFill>
                <a:latin typeface="微软雅黑"/>
              </a:defRPr>
            </a:pPr>
            <a:r>
              <a:t>• AI根据水质动态调节</a:t>
            </a:r>
          </a:p>
          <a:p>
            <a:pPr>
              <a:lnSpc>
                <a:spcPts val="1650"/>
              </a:lnSpc>
              <a:spcAft>
                <a:spcPts val="200"/>
              </a:spcAft>
              <a:defRPr sz="1100">
                <a:solidFill>
                  <a:srgbClr val="475569"/>
                </a:solidFill>
                <a:latin typeface="微软雅黑"/>
              </a:defRPr>
            </a:pPr>
            <a:r>
              <a:t>• 纳米气泡提升传质效率</a:t>
            </a:r>
          </a:p>
          <a:p>
            <a:pPr>
              <a:lnSpc>
                <a:spcPts val="1650"/>
              </a:lnSpc>
              <a:spcAft>
                <a:spcPts val="200"/>
              </a:spcAft>
              <a:defRPr sz="1100">
                <a:solidFill>
                  <a:srgbClr val="475569"/>
                </a:solidFill>
                <a:latin typeface="微软雅黑"/>
              </a:defRPr>
            </a:pPr>
            <a:r>
              <a:t>• AI+高效曝气组合优势</a:t>
            </a:r>
          </a:p>
        </p:txBody>
      </p:sp>
      <p:sp>
        <p:nvSpPr>
          <p:cNvPr id="11" name="Rounded Rectangle 10"/>
          <p:cNvSpPr/>
          <p:nvPr/>
        </p:nvSpPr>
        <p:spPr>
          <a:xfrm>
            <a:off x="8046720" y="1097280"/>
            <a:ext cx="3474720" cy="22860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097280"/>
            <a:ext cx="63500" cy="2286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234440"/>
            <a:ext cx="3017520" cy="274320"/>
          </a:xfrm>
          <a:prstGeom prst="rect">
            <a:avLst/>
          </a:prstGeom>
          <a:noFill/>
        </p:spPr>
        <p:txBody>
          <a:bodyPr wrap="square">
            <a:spAutoFit/>
          </a:bodyPr>
          <a:lstStyle/>
          <a:p>
            <a:pPr algn="l">
              <a:lnSpc>
                <a:spcPts val="1690"/>
              </a:lnSpc>
              <a:spcAft>
                <a:spcPts val="0"/>
              </a:spcAft>
              <a:defRPr sz="1300" b="1">
                <a:solidFill>
                  <a:srgbClr val="1E293B"/>
                </a:solidFill>
                <a:latin typeface="微软雅黑"/>
              </a:defRPr>
            </a:pPr>
            <a:r>
              <a:t>主题三：从传统曝气到AI智能曝气</a:t>
            </a:r>
          </a:p>
        </p:txBody>
      </p:sp>
      <p:sp>
        <p:nvSpPr>
          <p:cNvPr id="14" name="TextBox 13"/>
          <p:cNvSpPr txBox="1"/>
          <p:nvPr/>
        </p:nvSpPr>
        <p:spPr>
          <a:xfrm>
            <a:off x="8275320" y="1600200"/>
            <a:ext cx="3017520" cy="1645920"/>
          </a:xfrm>
          <a:prstGeom prst="rect">
            <a:avLst/>
          </a:prstGeom>
          <a:noFill/>
        </p:spPr>
        <p:txBody>
          <a:bodyPr wrap="square">
            <a:spAutoFit/>
          </a:bodyPr>
          <a:lstStyle/>
          <a:p>
            <a:pPr>
              <a:lnSpc>
                <a:spcPts val="1650"/>
              </a:lnSpc>
              <a:spcAft>
                <a:spcPts val="200"/>
              </a:spcAft>
              <a:defRPr sz="1100">
                <a:solidFill>
                  <a:srgbClr val="475569"/>
                </a:solidFill>
                <a:latin typeface="微软雅黑"/>
              </a:defRPr>
            </a:pPr>
            <a:r>
              <a:t>• 曝气是高能耗环节</a:t>
            </a:r>
          </a:p>
          <a:p>
            <a:pPr>
              <a:lnSpc>
                <a:spcPts val="1650"/>
              </a:lnSpc>
              <a:spcAft>
                <a:spcPts val="200"/>
              </a:spcAft>
              <a:defRPr sz="1100">
                <a:solidFill>
                  <a:srgbClr val="475569"/>
                </a:solidFill>
                <a:latin typeface="微软雅黑"/>
              </a:defRPr>
            </a:pPr>
            <a:r>
              <a:t>• AI根据DO/流量动态调节</a:t>
            </a:r>
          </a:p>
          <a:p>
            <a:pPr>
              <a:lnSpc>
                <a:spcPts val="1650"/>
              </a:lnSpc>
              <a:spcAft>
                <a:spcPts val="200"/>
              </a:spcAft>
              <a:defRPr sz="1100">
                <a:solidFill>
                  <a:srgbClr val="475569"/>
                </a:solidFill>
                <a:latin typeface="微软雅黑"/>
              </a:defRPr>
            </a:pPr>
            <a:r>
              <a:t>• 超微纳米提升氧利用率</a:t>
            </a:r>
          </a:p>
          <a:p>
            <a:pPr>
              <a:lnSpc>
                <a:spcPts val="1650"/>
              </a:lnSpc>
              <a:spcAft>
                <a:spcPts val="200"/>
              </a:spcAft>
              <a:defRPr sz="1100">
                <a:solidFill>
                  <a:srgbClr val="475569"/>
                </a:solidFill>
                <a:latin typeface="微软雅黑"/>
              </a:defRPr>
            </a:pPr>
            <a:r>
              <a:t>• 实现节能和稳定运行</a:t>
            </a:r>
          </a:p>
        </p:txBody>
      </p:sp>
      <p:sp>
        <p:nvSpPr>
          <p:cNvPr id="15" name="Rounded Rectangle 14"/>
          <p:cNvSpPr/>
          <p:nvPr/>
        </p:nvSpPr>
        <p:spPr>
          <a:xfrm>
            <a:off x="2331720" y="3657600"/>
            <a:ext cx="3474720" cy="22860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31720" y="3657600"/>
            <a:ext cx="63500" cy="2286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60320" y="3794760"/>
            <a:ext cx="3017520" cy="274320"/>
          </a:xfrm>
          <a:prstGeom prst="rect">
            <a:avLst/>
          </a:prstGeom>
          <a:noFill/>
        </p:spPr>
        <p:txBody>
          <a:bodyPr wrap="square">
            <a:spAutoFit/>
          </a:bodyPr>
          <a:lstStyle/>
          <a:p>
            <a:pPr algn="l">
              <a:lnSpc>
                <a:spcPts val="1690"/>
              </a:lnSpc>
              <a:spcAft>
                <a:spcPts val="0"/>
              </a:spcAft>
              <a:defRPr sz="1300" b="1">
                <a:solidFill>
                  <a:srgbClr val="1E293B"/>
                </a:solidFill>
                <a:latin typeface="微软雅黑"/>
              </a:defRPr>
            </a:pPr>
            <a:r>
              <a:t>主题四：AI智能水处理设备长什么样？</a:t>
            </a:r>
          </a:p>
        </p:txBody>
      </p:sp>
      <p:sp>
        <p:nvSpPr>
          <p:cNvPr id="18" name="TextBox 17"/>
          <p:cNvSpPr txBox="1"/>
          <p:nvPr/>
        </p:nvSpPr>
        <p:spPr>
          <a:xfrm>
            <a:off x="2560320" y="4160520"/>
            <a:ext cx="3017520" cy="1645920"/>
          </a:xfrm>
          <a:prstGeom prst="rect">
            <a:avLst/>
          </a:prstGeom>
          <a:noFill/>
        </p:spPr>
        <p:txBody>
          <a:bodyPr wrap="square">
            <a:spAutoFit/>
          </a:bodyPr>
          <a:lstStyle/>
          <a:p>
            <a:pPr>
              <a:lnSpc>
                <a:spcPts val="1650"/>
              </a:lnSpc>
              <a:spcAft>
                <a:spcPts val="200"/>
              </a:spcAft>
              <a:defRPr sz="1100">
                <a:solidFill>
                  <a:srgbClr val="475569"/>
                </a:solidFill>
                <a:latin typeface="微软雅黑"/>
              </a:defRPr>
            </a:pPr>
            <a:r>
              <a:t>• 在线监测+智能控制柜</a:t>
            </a:r>
          </a:p>
          <a:p>
            <a:pPr>
              <a:lnSpc>
                <a:spcPts val="1650"/>
              </a:lnSpc>
              <a:spcAft>
                <a:spcPts val="200"/>
              </a:spcAft>
              <a:defRPr sz="1100">
                <a:solidFill>
                  <a:srgbClr val="475569"/>
                </a:solidFill>
                <a:latin typeface="微软雅黑"/>
              </a:defRPr>
            </a:pPr>
            <a:r>
              <a:t>• 云端看板+自动报警</a:t>
            </a:r>
          </a:p>
          <a:p>
            <a:pPr>
              <a:lnSpc>
                <a:spcPts val="1650"/>
              </a:lnSpc>
              <a:spcAft>
                <a:spcPts val="200"/>
              </a:spcAft>
              <a:defRPr sz="1100">
                <a:solidFill>
                  <a:srgbClr val="475569"/>
                </a:solidFill>
                <a:latin typeface="微软雅黑"/>
              </a:defRPr>
            </a:pPr>
            <a:r>
              <a:t>• 远程运维+水质预测</a:t>
            </a:r>
          </a:p>
          <a:p>
            <a:pPr>
              <a:lnSpc>
                <a:spcPts val="1650"/>
              </a:lnSpc>
              <a:spcAft>
                <a:spcPts val="200"/>
              </a:spcAft>
              <a:defRPr sz="1100">
                <a:solidFill>
                  <a:srgbClr val="475569"/>
                </a:solidFill>
                <a:latin typeface="微软雅黑"/>
              </a:defRPr>
            </a:pPr>
            <a:r>
              <a:t>• 能耗统计+报告自动生成</a:t>
            </a:r>
          </a:p>
        </p:txBody>
      </p:sp>
      <p:sp>
        <p:nvSpPr>
          <p:cNvPr id="19" name="Rounded Rectangle 18"/>
          <p:cNvSpPr/>
          <p:nvPr/>
        </p:nvSpPr>
        <p:spPr>
          <a:xfrm>
            <a:off x="6126480" y="3657600"/>
            <a:ext cx="3474720" cy="228600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3657600"/>
            <a:ext cx="63500" cy="2286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794760"/>
            <a:ext cx="3017520" cy="274320"/>
          </a:xfrm>
          <a:prstGeom prst="rect">
            <a:avLst/>
          </a:prstGeom>
          <a:noFill/>
        </p:spPr>
        <p:txBody>
          <a:bodyPr wrap="square">
            <a:spAutoFit/>
          </a:bodyPr>
          <a:lstStyle/>
          <a:p>
            <a:pPr algn="l">
              <a:lnSpc>
                <a:spcPts val="1690"/>
              </a:lnSpc>
              <a:spcAft>
                <a:spcPts val="0"/>
              </a:spcAft>
              <a:defRPr sz="1300" b="1">
                <a:solidFill>
                  <a:srgbClr val="1E293B"/>
                </a:solidFill>
                <a:latin typeface="微软雅黑"/>
              </a:defRPr>
            </a:pPr>
            <a:r>
              <a:t>主题五：环保创始人 × AI专家对话</a:t>
            </a:r>
          </a:p>
        </p:txBody>
      </p:sp>
      <p:sp>
        <p:nvSpPr>
          <p:cNvPr id="22" name="TextBox 21"/>
          <p:cNvSpPr txBox="1"/>
          <p:nvPr/>
        </p:nvSpPr>
        <p:spPr>
          <a:xfrm>
            <a:off x="6355080" y="4160520"/>
            <a:ext cx="3017520" cy="1645920"/>
          </a:xfrm>
          <a:prstGeom prst="rect">
            <a:avLst/>
          </a:prstGeom>
          <a:noFill/>
        </p:spPr>
        <p:txBody>
          <a:bodyPr wrap="square">
            <a:spAutoFit/>
          </a:bodyPr>
          <a:lstStyle/>
          <a:p>
            <a:pPr>
              <a:lnSpc>
                <a:spcPts val="1650"/>
              </a:lnSpc>
              <a:spcAft>
                <a:spcPts val="200"/>
              </a:spcAft>
              <a:defRPr sz="1100">
                <a:solidFill>
                  <a:srgbClr val="475569"/>
                </a:solidFill>
                <a:latin typeface="微软雅黑"/>
              </a:defRPr>
            </a:pPr>
            <a:r>
              <a:t>• AI放大工程师经验</a:t>
            </a:r>
          </a:p>
          <a:p>
            <a:pPr>
              <a:lnSpc>
                <a:spcPts val="1650"/>
              </a:lnSpc>
              <a:spcAft>
                <a:spcPts val="200"/>
              </a:spcAft>
              <a:defRPr sz="1100">
                <a:solidFill>
                  <a:srgbClr val="475569"/>
                </a:solidFill>
                <a:latin typeface="微软雅黑"/>
              </a:defRPr>
            </a:pPr>
            <a:r>
              <a:t>• 传统设备为什么要接入数据</a:t>
            </a:r>
          </a:p>
          <a:p>
            <a:pPr>
              <a:lnSpc>
                <a:spcPts val="1650"/>
              </a:lnSpc>
              <a:spcAft>
                <a:spcPts val="200"/>
              </a:spcAft>
              <a:defRPr sz="1100">
                <a:solidFill>
                  <a:srgbClr val="475569"/>
                </a:solidFill>
                <a:latin typeface="微软雅黑"/>
              </a:defRPr>
            </a:pPr>
            <a:r>
              <a:t>• AI最现实的落地场景</a:t>
            </a:r>
          </a:p>
          <a:p>
            <a:pPr>
              <a:lnSpc>
                <a:spcPts val="1650"/>
              </a:lnSpc>
              <a:spcAft>
                <a:spcPts val="200"/>
              </a:spcAft>
              <a:defRPr sz="1100">
                <a:solidFill>
                  <a:srgbClr val="475569"/>
                </a:solidFill>
                <a:latin typeface="微软雅黑"/>
              </a:defRPr>
            </a:pPr>
            <a:r>
              <a:t>• 从卖设备到卖智能运维</a:t>
            </a:r>
          </a:p>
        </p:txBody>
      </p:sp>
      <p:sp>
        <p:nvSpPr>
          <p:cNvPr id="23" name="TextBox 22"/>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方案中需要注意的几个问题</a:t>
            </a:r>
          </a:p>
        </p:txBody>
      </p:sp>
      <p:sp>
        <p:nvSpPr>
          <p:cNvPr id="3" name="Rounded Rectangle 2"/>
          <p:cNvSpPr/>
          <p:nvPr/>
        </p:nvSpPr>
        <p:spPr>
          <a:xfrm>
            <a:off x="457200" y="1188720"/>
            <a:ext cx="5394960" cy="210312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88720"/>
            <a:ext cx="63500" cy="21031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484632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不要一上来就讲太大</a:t>
            </a:r>
          </a:p>
        </p:txBody>
      </p:sp>
      <p:sp>
        <p:nvSpPr>
          <p:cNvPr id="6" name="TextBox 5"/>
          <p:cNvSpPr txBox="1"/>
          <p:nvPr/>
        </p:nvSpPr>
        <p:spPr>
          <a:xfrm>
            <a:off x="731520" y="1828800"/>
            <a:ext cx="4846320" cy="118872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"数字孪生""无人化运维""AI全面决策"作为中长期目标，短期先讲数据采集、远程监控、智能报警、辅助决策。</a:t>
            </a:r>
          </a:p>
        </p:txBody>
      </p:sp>
      <p:sp>
        <p:nvSpPr>
          <p:cNvPr id="7" name="Rounded Rectangle 6"/>
          <p:cNvSpPr/>
          <p:nvPr/>
        </p:nvSpPr>
        <p:spPr>
          <a:xfrm>
            <a:off x="6172200" y="1188720"/>
            <a:ext cx="5394960" cy="210312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72200" y="1188720"/>
            <a:ext cx="63500" cy="21031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371600"/>
            <a:ext cx="484632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节能比例要谨慎</a:t>
            </a:r>
          </a:p>
        </p:txBody>
      </p:sp>
      <p:sp>
        <p:nvSpPr>
          <p:cNvPr id="10" name="TextBox 9"/>
          <p:cNvSpPr txBox="1"/>
          <p:nvPr/>
        </p:nvSpPr>
        <p:spPr>
          <a:xfrm>
            <a:off x="6446520" y="1828800"/>
            <a:ext cx="4846320" cy="118872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"15%-30%"可作为目标区间，没有实际验证前写"有望实现…具体需通过试点数据验证"。</a:t>
            </a:r>
          </a:p>
        </p:txBody>
      </p:sp>
      <p:sp>
        <p:nvSpPr>
          <p:cNvPr id="11" name="Rounded Rectangle 10"/>
          <p:cNvSpPr/>
          <p:nvPr/>
        </p:nvSpPr>
        <p:spPr>
          <a:xfrm>
            <a:off x="457200" y="3657600"/>
            <a:ext cx="5394960" cy="210312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57600"/>
            <a:ext cx="63500" cy="21031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840480"/>
            <a:ext cx="484632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AI不能脱离工艺机理</a:t>
            </a:r>
          </a:p>
        </p:txBody>
      </p:sp>
      <p:sp>
        <p:nvSpPr>
          <p:cNvPr id="14" name="TextBox 13"/>
          <p:cNvSpPr txBox="1"/>
          <p:nvPr/>
        </p:nvSpPr>
        <p:spPr>
          <a:xfrm>
            <a:off x="731520" y="4297680"/>
            <a:ext cx="4846320" cy="118872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建议强调"工艺机理模型+运行数据模型+专家经验规则"的组合方式，不是单纯黑箱算法。这句话很专业。</a:t>
            </a:r>
          </a:p>
        </p:txBody>
      </p:sp>
      <p:sp>
        <p:nvSpPr>
          <p:cNvPr id="15" name="Rounded Rectangle 14"/>
          <p:cNvSpPr/>
          <p:nvPr/>
        </p:nvSpPr>
        <p:spPr>
          <a:xfrm>
            <a:off x="6172200" y="3657600"/>
            <a:ext cx="5394960" cy="210312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657600"/>
            <a:ext cx="63500" cy="21031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40480"/>
            <a:ext cx="4846320" cy="365760"/>
          </a:xfrm>
          <a:prstGeom prst="rect">
            <a:avLst/>
          </a:prstGeom>
          <a:noFill/>
        </p:spPr>
        <p:txBody>
          <a:bodyPr wrap="square">
            <a:spAutoFit/>
          </a:bodyPr>
          <a:lstStyle/>
          <a:p>
            <a:pPr algn="l">
              <a:lnSpc>
                <a:spcPts val="2210"/>
              </a:lnSpc>
              <a:spcAft>
                <a:spcPts val="0"/>
              </a:spcAft>
              <a:defRPr sz="1700" b="1">
                <a:solidFill>
                  <a:srgbClr val="1E293B"/>
                </a:solidFill>
                <a:latin typeface="微软雅黑"/>
              </a:defRPr>
            </a:pPr>
            <a:r>
              <a:t>数据质量是关键</a:t>
            </a:r>
          </a:p>
        </p:txBody>
      </p:sp>
      <p:sp>
        <p:nvSpPr>
          <p:cNvPr id="18" name="TextBox 17"/>
          <p:cNvSpPr txBox="1"/>
          <p:nvPr/>
        </p:nvSpPr>
        <p:spPr>
          <a:xfrm>
            <a:off x="6446520" y="4297680"/>
            <a:ext cx="4846320" cy="118872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请教：哪些数据必须采？传感器怎么选？采样频率？历史数据不完整怎么办？仪表漂移怎么校准？</a:t>
            </a:r>
          </a:p>
        </p:txBody>
      </p:sp>
      <p:sp>
        <p:nvSpPr>
          <p:cNvPr id="19" name="TextBox 18"/>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9144000" cy="457200"/>
          </a:xfrm>
          <a:prstGeom prst="rect">
            <a:avLst/>
          </a:prstGeom>
          <a:noFill/>
        </p:spPr>
        <p:txBody>
          <a:bodyPr wrap="square">
            <a:spAutoFit/>
          </a:bodyPr>
          <a:lstStyle/>
          <a:p>
            <a:pPr algn="l">
              <a:lnSpc>
                <a:spcPts val="3640"/>
              </a:lnSpc>
              <a:spcAft>
                <a:spcPts val="0"/>
              </a:spcAft>
              <a:defRPr sz="2800" b="1">
                <a:solidFill>
                  <a:srgbClr val="0F172A"/>
                </a:solidFill>
                <a:latin typeface="微软雅黑"/>
              </a:defRPr>
            </a:pPr>
            <a:r>
              <a:t>明天交流提纲顺序</a:t>
            </a:r>
          </a:p>
        </p:txBody>
      </p:sp>
      <p:sp>
        <p:nvSpPr>
          <p:cNvPr id="3" name="Rounded Rectangle 2"/>
          <p:cNvSpPr/>
          <p:nvPr/>
        </p:nvSpPr>
        <p:spPr>
          <a:xfrm>
            <a:off x="457200" y="1188720"/>
            <a:ext cx="3474720" cy="210312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371600"/>
            <a:ext cx="411480" cy="41148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89888"/>
            <a:ext cx="411480" cy="411480"/>
          </a:xfrm>
          <a:prstGeom prst="rect">
            <a:avLst/>
          </a:prstGeom>
          <a:noFill/>
        </p:spPr>
        <p:txBody>
          <a:bodyPr wrap="square">
            <a:spAutoFit/>
          </a:bodyPr>
          <a:lstStyle/>
          <a:p>
            <a:pPr algn="ctr">
              <a:lnSpc>
                <a:spcPts val="2080"/>
              </a:lnSpc>
              <a:spcAft>
                <a:spcPts val="0"/>
              </a:spcAft>
              <a:defRPr sz="1600" b="1">
                <a:solidFill>
                  <a:srgbClr val="FFFFFF"/>
                </a:solidFill>
                <a:latin typeface="微软雅黑"/>
              </a:defRPr>
            </a:pPr>
            <a:r>
              <a:t>1</a:t>
            </a:r>
          </a:p>
        </p:txBody>
      </p:sp>
      <p:sp>
        <p:nvSpPr>
          <p:cNvPr id="6" name="TextBox 5"/>
          <p:cNvSpPr txBox="1"/>
          <p:nvPr/>
        </p:nvSpPr>
        <p:spPr>
          <a:xfrm>
            <a:off x="1188720" y="1417320"/>
            <a:ext cx="2560320" cy="32004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公司介绍</a:t>
            </a:r>
          </a:p>
        </p:txBody>
      </p:sp>
      <p:sp>
        <p:nvSpPr>
          <p:cNvPr id="7" name="TextBox 6"/>
          <p:cNvSpPr txBox="1"/>
          <p:nvPr/>
        </p:nvSpPr>
        <p:spPr>
          <a:xfrm>
            <a:off x="731520" y="1965960"/>
            <a:ext cx="2926080" cy="109728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业务、核心技术</a:t>
            </a:r>
            <a:br/>
            <a:r>
              <a:t>应用场景、行业痛点</a:t>
            </a:r>
          </a:p>
        </p:txBody>
      </p:sp>
      <p:sp>
        <p:nvSpPr>
          <p:cNvPr id="8" name="Rounded Rectangle 7"/>
          <p:cNvSpPr/>
          <p:nvPr/>
        </p:nvSpPr>
        <p:spPr>
          <a:xfrm>
            <a:off x="4251960" y="1188720"/>
            <a:ext cx="3474720" cy="210312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1371600"/>
            <a:ext cx="411480" cy="41148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389888"/>
            <a:ext cx="411480" cy="411480"/>
          </a:xfrm>
          <a:prstGeom prst="rect">
            <a:avLst/>
          </a:prstGeom>
          <a:noFill/>
        </p:spPr>
        <p:txBody>
          <a:bodyPr wrap="square">
            <a:spAutoFit/>
          </a:bodyPr>
          <a:lstStyle/>
          <a:p>
            <a:pPr algn="ctr">
              <a:lnSpc>
                <a:spcPts val="2080"/>
              </a:lnSpc>
              <a:spcAft>
                <a:spcPts val="0"/>
              </a:spcAft>
              <a:defRPr sz="1600" b="1">
                <a:solidFill>
                  <a:srgbClr val="FFFFFF"/>
                </a:solidFill>
                <a:latin typeface="微软雅黑"/>
              </a:defRPr>
            </a:pPr>
            <a:r>
              <a:t>2</a:t>
            </a:r>
          </a:p>
        </p:txBody>
      </p:sp>
      <p:sp>
        <p:nvSpPr>
          <p:cNvPr id="11" name="TextBox 10"/>
          <p:cNvSpPr txBox="1"/>
          <p:nvPr/>
        </p:nvSpPr>
        <p:spPr>
          <a:xfrm>
            <a:off x="4983480" y="1417320"/>
            <a:ext cx="2560320" cy="32004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为什么关注AI</a:t>
            </a:r>
          </a:p>
        </p:txBody>
      </p:sp>
      <p:sp>
        <p:nvSpPr>
          <p:cNvPr id="12" name="TextBox 11"/>
          <p:cNvSpPr txBox="1"/>
          <p:nvPr/>
        </p:nvSpPr>
        <p:spPr>
          <a:xfrm>
            <a:off x="4526280" y="1965960"/>
            <a:ext cx="2926080" cy="109728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更低成本、更稳达标</a:t>
            </a:r>
            <a:br/>
            <a:r>
              <a:t>更少人工、更智能</a:t>
            </a:r>
          </a:p>
        </p:txBody>
      </p:sp>
      <p:sp>
        <p:nvSpPr>
          <p:cNvPr id="13" name="Rounded Rectangle 12"/>
          <p:cNvSpPr/>
          <p:nvPr/>
        </p:nvSpPr>
        <p:spPr>
          <a:xfrm>
            <a:off x="8046720" y="1188720"/>
            <a:ext cx="3474720" cy="210312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0" y="1371600"/>
            <a:ext cx="411480" cy="41148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89888"/>
            <a:ext cx="411480" cy="411480"/>
          </a:xfrm>
          <a:prstGeom prst="rect">
            <a:avLst/>
          </a:prstGeom>
          <a:noFill/>
        </p:spPr>
        <p:txBody>
          <a:bodyPr wrap="square">
            <a:spAutoFit/>
          </a:bodyPr>
          <a:lstStyle/>
          <a:p>
            <a:pPr algn="ctr">
              <a:lnSpc>
                <a:spcPts val="2080"/>
              </a:lnSpc>
              <a:spcAft>
                <a:spcPts val="0"/>
              </a:spcAft>
              <a:defRPr sz="1600" b="1">
                <a:solidFill>
                  <a:srgbClr val="FFFFFF"/>
                </a:solidFill>
                <a:latin typeface="微软雅黑"/>
              </a:defRPr>
            </a:pPr>
            <a:r>
              <a:t>3</a:t>
            </a:r>
          </a:p>
        </p:txBody>
      </p:sp>
      <p:sp>
        <p:nvSpPr>
          <p:cNvPr id="16" name="TextBox 15"/>
          <p:cNvSpPr txBox="1"/>
          <p:nvPr/>
        </p:nvSpPr>
        <p:spPr>
          <a:xfrm>
            <a:off x="8778240" y="1417320"/>
            <a:ext cx="2560320" cy="32004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方向一：企业端</a:t>
            </a:r>
          </a:p>
        </p:txBody>
      </p:sp>
      <p:sp>
        <p:nvSpPr>
          <p:cNvPr id="17" name="TextBox 16"/>
          <p:cNvSpPr txBox="1"/>
          <p:nvPr/>
        </p:nvSpPr>
        <p:spPr>
          <a:xfrm>
            <a:off x="8321040" y="1965960"/>
            <a:ext cx="2926080" cy="109728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知识库、方案生成</a:t>
            </a:r>
            <a:br/>
            <a:r>
              <a:t>标书、营销、获客</a:t>
            </a:r>
          </a:p>
        </p:txBody>
      </p:sp>
      <p:sp>
        <p:nvSpPr>
          <p:cNvPr id="18" name="Rounded Rectangle 17"/>
          <p:cNvSpPr/>
          <p:nvPr/>
        </p:nvSpPr>
        <p:spPr>
          <a:xfrm>
            <a:off x="457200" y="3749039"/>
            <a:ext cx="3474720" cy="210312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3931919"/>
            <a:ext cx="411480" cy="41148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950207"/>
            <a:ext cx="411480" cy="411480"/>
          </a:xfrm>
          <a:prstGeom prst="rect">
            <a:avLst/>
          </a:prstGeom>
          <a:noFill/>
        </p:spPr>
        <p:txBody>
          <a:bodyPr wrap="square">
            <a:spAutoFit/>
          </a:bodyPr>
          <a:lstStyle/>
          <a:p>
            <a:pPr algn="ctr">
              <a:lnSpc>
                <a:spcPts val="2080"/>
              </a:lnSpc>
              <a:spcAft>
                <a:spcPts val="0"/>
              </a:spcAft>
              <a:defRPr sz="1600" b="1">
                <a:solidFill>
                  <a:srgbClr val="FFFFFF"/>
                </a:solidFill>
                <a:latin typeface="微软雅黑"/>
              </a:defRPr>
            </a:pPr>
            <a:r>
              <a:t>4</a:t>
            </a:r>
          </a:p>
        </p:txBody>
      </p:sp>
      <p:sp>
        <p:nvSpPr>
          <p:cNvPr id="21" name="TextBox 20"/>
          <p:cNvSpPr txBox="1"/>
          <p:nvPr/>
        </p:nvSpPr>
        <p:spPr>
          <a:xfrm>
            <a:off x="1188720" y="3977639"/>
            <a:ext cx="2560320" cy="32004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方向二：产品端</a:t>
            </a:r>
          </a:p>
        </p:txBody>
      </p:sp>
      <p:sp>
        <p:nvSpPr>
          <p:cNvPr id="22" name="TextBox 21"/>
          <p:cNvSpPr txBox="1"/>
          <p:nvPr/>
        </p:nvSpPr>
        <p:spPr>
          <a:xfrm>
            <a:off x="731520" y="4526279"/>
            <a:ext cx="2926080" cy="109728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智能控制、臭氧/曝气</a:t>
            </a:r>
            <a:br/>
            <a:r>
              <a:t>水质预测、运维</a:t>
            </a:r>
          </a:p>
        </p:txBody>
      </p:sp>
      <p:sp>
        <p:nvSpPr>
          <p:cNvPr id="23" name="Rounded Rectangle 22"/>
          <p:cNvSpPr/>
          <p:nvPr/>
        </p:nvSpPr>
        <p:spPr>
          <a:xfrm>
            <a:off x="4251960" y="3749039"/>
            <a:ext cx="3474720" cy="210312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34840" y="3931919"/>
            <a:ext cx="411480" cy="41148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3950207"/>
            <a:ext cx="411480" cy="411480"/>
          </a:xfrm>
          <a:prstGeom prst="rect">
            <a:avLst/>
          </a:prstGeom>
          <a:noFill/>
        </p:spPr>
        <p:txBody>
          <a:bodyPr wrap="square">
            <a:spAutoFit/>
          </a:bodyPr>
          <a:lstStyle/>
          <a:p>
            <a:pPr algn="ctr">
              <a:lnSpc>
                <a:spcPts val="2080"/>
              </a:lnSpc>
              <a:spcAft>
                <a:spcPts val="0"/>
              </a:spcAft>
              <a:defRPr sz="1600" b="1">
                <a:solidFill>
                  <a:srgbClr val="FFFFFF"/>
                </a:solidFill>
                <a:latin typeface="微软雅黑"/>
              </a:defRPr>
            </a:pPr>
            <a:r>
              <a:t>5</a:t>
            </a:r>
          </a:p>
        </p:txBody>
      </p:sp>
      <p:sp>
        <p:nvSpPr>
          <p:cNvPr id="26" name="TextBox 25"/>
          <p:cNvSpPr txBox="1"/>
          <p:nvPr/>
        </p:nvSpPr>
        <p:spPr>
          <a:xfrm>
            <a:off x="4983480" y="3977639"/>
            <a:ext cx="2560320" cy="32004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方向三：实施路径</a:t>
            </a:r>
          </a:p>
        </p:txBody>
      </p:sp>
      <p:sp>
        <p:nvSpPr>
          <p:cNvPr id="27" name="TextBox 26"/>
          <p:cNvSpPr txBox="1"/>
          <p:nvPr/>
        </p:nvSpPr>
        <p:spPr>
          <a:xfrm>
            <a:off x="4526280" y="4526279"/>
            <a:ext cx="2926080" cy="109728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0-3月、3-12月、1-3年</a:t>
            </a:r>
            <a:br/>
            <a:r>
              <a:t>数据和硬件需求</a:t>
            </a:r>
          </a:p>
        </p:txBody>
      </p:sp>
      <p:sp>
        <p:nvSpPr>
          <p:cNvPr id="28" name="Rounded Rectangle 27"/>
          <p:cNvSpPr/>
          <p:nvPr/>
        </p:nvSpPr>
        <p:spPr>
          <a:xfrm>
            <a:off x="8046720" y="3749039"/>
            <a:ext cx="3474720" cy="2103120"/>
          </a:xfrm>
          <a:prstGeom prst="roundRect">
            <a:avLst>
              <a:gd name="adj" fmla="val 4000"/>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229600" y="3931919"/>
            <a:ext cx="411480" cy="411480"/>
          </a:xfrm>
          <a:prstGeom prst="roundRect">
            <a:avLst>
              <a:gd name="adj" fmla="val 4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3950207"/>
            <a:ext cx="411480" cy="411480"/>
          </a:xfrm>
          <a:prstGeom prst="rect">
            <a:avLst/>
          </a:prstGeom>
          <a:noFill/>
        </p:spPr>
        <p:txBody>
          <a:bodyPr wrap="square">
            <a:spAutoFit/>
          </a:bodyPr>
          <a:lstStyle/>
          <a:p>
            <a:pPr algn="ctr">
              <a:lnSpc>
                <a:spcPts val="2080"/>
              </a:lnSpc>
              <a:spcAft>
                <a:spcPts val="0"/>
              </a:spcAft>
              <a:defRPr sz="1600" b="1">
                <a:solidFill>
                  <a:srgbClr val="FFFFFF"/>
                </a:solidFill>
                <a:latin typeface="微软雅黑"/>
              </a:defRPr>
            </a:pPr>
            <a:r>
              <a:t>6</a:t>
            </a:r>
          </a:p>
        </p:txBody>
      </p:sp>
      <p:sp>
        <p:nvSpPr>
          <p:cNvPr id="31" name="TextBox 30"/>
          <p:cNvSpPr txBox="1"/>
          <p:nvPr/>
        </p:nvSpPr>
        <p:spPr>
          <a:xfrm>
            <a:off x="8778240" y="3977639"/>
            <a:ext cx="2560320" cy="320040"/>
          </a:xfrm>
          <a:prstGeom prst="rect">
            <a:avLst/>
          </a:prstGeom>
          <a:noFill/>
        </p:spPr>
        <p:txBody>
          <a:bodyPr wrap="square">
            <a:spAutoFit/>
          </a:bodyPr>
          <a:lstStyle/>
          <a:p>
            <a:pPr algn="l">
              <a:lnSpc>
                <a:spcPts val="2080"/>
              </a:lnSpc>
              <a:spcAft>
                <a:spcPts val="0"/>
              </a:spcAft>
              <a:defRPr sz="1600" b="1">
                <a:solidFill>
                  <a:srgbClr val="1E293B"/>
                </a:solidFill>
                <a:latin typeface="微软雅黑"/>
              </a:defRPr>
            </a:pPr>
            <a:r>
              <a:t>方向四：合作模式</a:t>
            </a:r>
          </a:p>
        </p:txBody>
      </p:sp>
      <p:sp>
        <p:nvSpPr>
          <p:cNvPr id="32" name="TextBox 31"/>
          <p:cNvSpPr txBox="1"/>
          <p:nvPr/>
        </p:nvSpPr>
        <p:spPr>
          <a:xfrm>
            <a:off x="8321040" y="4526279"/>
            <a:ext cx="2926080" cy="1097280"/>
          </a:xfrm>
          <a:prstGeom prst="rect">
            <a:avLst/>
          </a:prstGeom>
          <a:noFill/>
        </p:spPr>
        <p:txBody>
          <a:bodyPr wrap="square">
            <a:spAutoFit/>
          </a:bodyPr>
          <a:lstStyle/>
          <a:p>
            <a:pPr algn="l">
              <a:lnSpc>
                <a:spcPts val="2080"/>
              </a:lnSpc>
              <a:spcAft>
                <a:spcPts val="0"/>
              </a:spcAft>
              <a:defRPr sz="1300" b="0">
                <a:solidFill>
                  <a:srgbClr val="475569"/>
                </a:solidFill>
                <a:latin typeface="微软雅黑"/>
              </a:defRPr>
            </a:pPr>
            <a:r>
              <a:t>诊断→试点→产品化</a:t>
            </a:r>
            <a:br/>
            <a:r>
              <a:t>分工、宣传、知识产权</a:t>
            </a:r>
          </a:p>
        </p:txBody>
      </p:sp>
      <p:sp>
        <p:nvSpPr>
          <p:cNvPr id="33" name="TextBox 32"/>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731520"/>
            <a:ext cx="10058400" cy="274320"/>
          </a:xfrm>
          <a:prstGeom prst="rect">
            <a:avLst/>
          </a:prstGeom>
          <a:noFill/>
        </p:spPr>
        <p:txBody>
          <a:bodyPr wrap="square">
            <a:spAutoFit/>
          </a:bodyPr>
          <a:lstStyle/>
          <a:p>
            <a:pPr algn="ctr">
              <a:lnSpc>
                <a:spcPts val="1690"/>
              </a:lnSpc>
              <a:spcAft>
                <a:spcPts val="0"/>
              </a:spcAft>
              <a:defRPr sz="1300" b="1">
                <a:solidFill>
                  <a:srgbClr val="5EEAD4"/>
                </a:solidFill>
                <a:latin typeface="微软雅黑"/>
              </a:defRPr>
            </a:pPr>
            <a:r>
              <a:t>总定位</a:t>
            </a:r>
          </a:p>
        </p:txBody>
      </p:sp>
      <p:sp>
        <p:nvSpPr>
          <p:cNvPr id="3" name="TextBox 2"/>
          <p:cNvSpPr txBox="1"/>
          <p:nvPr/>
        </p:nvSpPr>
        <p:spPr>
          <a:xfrm>
            <a:off x="1371600" y="1280160"/>
            <a:ext cx="9144000" cy="1828800"/>
          </a:xfrm>
          <a:prstGeom prst="rect">
            <a:avLst/>
          </a:prstGeom>
          <a:noFill/>
        </p:spPr>
        <p:txBody>
          <a:bodyPr wrap="square">
            <a:spAutoFit/>
          </a:bodyPr>
          <a:lstStyle/>
          <a:p>
            <a:pPr algn="ctr">
              <a:lnSpc>
                <a:spcPts val="3600"/>
              </a:lnSpc>
              <a:spcAft>
                <a:spcPts val="0"/>
              </a:spcAft>
              <a:defRPr sz="2000" b="0">
                <a:solidFill>
                  <a:srgbClr val="FFFFFF"/>
                </a:solidFill>
                <a:latin typeface="微软雅黑"/>
              </a:defRPr>
            </a:pPr>
            <a:r>
              <a:t>睿美达希望以超微纳米曝气和臭氧催化氧化工艺为核心，</a:t>
            </a:r>
            <a:br/>
            <a:r>
              <a:t>融合AI算法、在线监测和远程运维系统，</a:t>
            </a:r>
            <a:br/>
            <a:r>
              <a:t>打造新一代AI智能水处理装备，实现污水处理从——</a:t>
            </a:r>
          </a:p>
        </p:txBody>
      </p:sp>
      <p:sp>
        <p:nvSpPr>
          <p:cNvPr id="4" name="Rounded Rectangle 3"/>
          <p:cNvSpPr/>
          <p:nvPr/>
        </p:nvSpPr>
        <p:spPr>
          <a:xfrm>
            <a:off x="1828800" y="3657600"/>
            <a:ext cx="3200400" cy="548640"/>
          </a:xfrm>
          <a:prstGeom prst="roundRect">
            <a:avLst>
              <a:gd name="adj" fmla="val 4000"/>
            </a:avLst>
          </a:prstGeom>
          <a:solidFill>
            <a:srgbClr val="1E3A5F"/>
          </a:solidFill>
          <a:ln w="12700">
            <a:solidFill>
              <a:srgbClr val="385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3675887"/>
            <a:ext cx="3200400" cy="548640"/>
          </a:xfrm>
          <a:prstGeom prst="rect">
            <a:avLst/>
          </a:prstGeom>
          <a:noFill/>
        </p:spPr>
        <p:txBody>
          <a:bodyPr wrap="square">
            <a:spAutoFit/>
          </a:bodyPr>
          <a:lstStyle/>
          <a:p>
            <a:pPr algn="ctr">
              <a:lnSpc>
                <a:spcPts val="2340"/>
              </a:lnSpc>
              <a:spcAft>
                <a:spcPts val="0"/>
              </a:spcAft>
              <a:defRPr sz="1800" b="0">
                <a:solidFill>
                  <a:srgbClr val="FFFFFF"/>
                </a:solidFill>
                <a:latin typeface="微软雅黑"/>
              </a:defRPr>
            </a:pPr>
            <a:r>
              <a:t>人工经验运行</a:t>
            </a:r>
          </a:p>
        </p:txBody>
      </p:sp>
      <p:sp>
        <p:nvSpPr>
          <p:cNvPr id="6" name="TextBox 5"/>
          <p:cNvSpPr txBox="1"/>
          <p:nvPr/>
        </p:nvSpPr>
        <p:spPr>
          <a:xfrm>
            <a:off x="5303520" y="3566160"/>
            <a:ext cx="1097280" cy="548640"/>
          </a:xfrm>
          <a:prstGeom prst="rect">
            <a:avLst/>
          </a:prstGeom>
          <a:noFill/>
        </p:spPr>
        <p:txBody>
          <a:bodyPr wrap="square">
            <a:spAutoFit/>
          </a:bodyPr>
          <a:lstStyle/>
          <a:p>
            <a:pPr algn="ctr">
              <a:lnSpc>
                <a:spcPts val="4160"/>
              </a:lnSpc>
              <a:spcAft>
                <a:spcPts val="0"/>
              </a:spcAft>
              <a:defRPr sz="3200" b="1">
                <a:solidFill>
                  <a:srgbClr val="94A3B8"/>
                </a:solidFill>
                <a:latin typeface="微软雅黑"/>
              </a:defRPr>
            </a:pPr>
            <a:r>
              <a:t>→</a:t>
            </a:r>
          </a:p>
        </p:txBody>
      </p:sp>
      <p:sp>
        <p:nvSpPr>
          <p:cNvPr id="7" name="Rounded Rectangle 6"/>
          <p:cNvSpPr/>
          <p:nvPr/>
        </p:nvSpPr>
        <p:spPr>
          <a:xfrm>
            <a:off x="6583680" y="3657600"/>
            <a:ext cx="4114800" cy="548640"/>
          </a:xfrm>
          <a:prstGeom prst="roundRect">
            <a:avLst>
              <a:gd name="adj" fmla="val 4000"/>
            </a:avLst>
          </a:prstGeom>
          <a:solidFill>
            <a:srgbClr val="0A3D38"/>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3675887"/>
            <a:ext cx="4114800" cy="548640"/>
          </a:xfrm>
          <a:prstGeom prst="rect">
            <a:avLst/>
          </a:prstGeom>
          <a:noFill/>
        </p:spPr>
        <p:txBody>
          <a:bodyPr wrap="square">
            <a:spAutoFit/>
          </a:bodyPr>
          <a:lstStyle/>
          <a:p>
            <a:pPr algn="ctr">
              <a:lnSpc>
                <a:spcPts val="2080"/>
              </a:lnSpc>
              <a:spcAft>
                <a:spcPts val="0"/>
              </a:spcAft>
              <a:defRPr sz="1600" b="1">
                <a:solidFill>
                  <a:srgbClr val="5EEAD4"/>
                </a:solidFill>
                <a:latin typeface="微软雅黑"/>
              </a:defRPr>
            </a:pPr>
            <a:r>
              <a:t>数据驱动 · 智能调控 · 节能降耗 · 稳定达标</a:t>
            </a:r>
          </a:p>
        </p:txBody>
      </p:sp>
      <p:sp>
        <p:nvSpPr>
          <p:cNvPr id="9" name="TextBox 8"/>
          <p:cNvSpPr txBox="1"/>
          <p:nvPr/>
        </p:nvSpPr>
        <p:spPr>
          <a:xfrm>
            <a:off x="1828800" y="5029200"/>
            <a:ext cx="8229600" cy="365760"/>
          </a:xfrm>
          <a:prstGeom prst="rect">
            <a:avLst/>
          </a:prstGeom>
          <a:noFill/>
        </p:spPr>
        <p:txBody>
          <a:bodyPr wrap="square">
            <a:spAutoFit/>
          </a:bodyPr>
          <a:lstStyle/>
          <a:p>
            <a:pPr algn="ctr">
              <a:lnSpc>
                <a:spcPts val="1560"/>
              </a:lnSpc>
              <a:spcAft>
                <a:spcPts val="0"/>
              </a:spcAft>
              <a:defRPr sz="1200" b="0">
                <a:solidFill>
                  <a:srgbClr val="94A3B8"/>
                </a:solidFill>
                <a:latin typeface="微软雅黑"/>
              </a:defRPr>
            </a:pPr>
            <a:r>
              <a:t>这句话后期可以放在PPT、视频、宣传册里</a:t>
            </a:r>
          </a:p>
        </p:txBody>
      </p:sp>
      <p:sp>
        <p:nvSpPr>
          <p:cNvPr id="10" name="TextBox 9"/>
          <p:cNvSpPr txBox="1"/>
          <p:nvPr/>
        </p:nvSpPr>
        <p:spPr>
          <a:xfrm>
            <a:off x="11430000" y="6400800"/>
            <a:ext cx="548640" cy="274320"/>
          </a:xfrm>
          <a:prstGeom prst="rect">
            <a:avLst/>
          </a:prstGeom>
          <a:noFill/>
        </p:spPr>
        <p:txBody>
          <a:bodyPr wrap="square">
            <a:spAutoFit/>
          </a:bodyPr>
          <a:lstStyle/>
          <a:p>
            <a:pPr algn="r">
              <a:lnSpc>
                <a:spcPts val="1300"/>
              </a:lnSpc>
              <a:spcAft>
                <a:spcPts val="0"/>
              </a:spcAft>
              <a:defRPr sz="1000" b="0">
                <a:solidFill>
                  <a:srgbClr val="94A3B8"/>
                </a:solidFill>
                <a:latin typeface="微软雅黑"/>
              </a:defRPr>
            </a:pPr>
            <a: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